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jNf+JpuefJUhEvJJ+fA22XwWt0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842684-3C82-4E12-BA42-3301D1F0D74C}">
  <a:tblStyle styleId="{E6842684-3C82-4E12-BA42-3301D1F0D74C}"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4AFA2C0-81FA-426D-AC04-C4082A1A4F7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21" Type="http://customschemas.google.com/relationships/presentationmetadata" Target="meta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25631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f667400058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IN"/>
              <a:t>Course Code &amp; Name: 1010063491(B.TECH(CSE-CS)-Minor Project,1010043494-Minor Project(B.TECH(CE)/(CSE),1010043493-Advanced Programming with Project-I(B.TECH(CE)/(CSE);Course Code &amp; Name: 1010063491-Minor Project(CE-AIML)</a:t>
            </a:r>
            <a:endParaRPr/>
          </a:p>
        </p:txBody>
      </p:sp>
      <p:sp>
        <p:nvSpPr>
          <p:cNvPr id="91" name="Google Shape;91;g3f66740005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4709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652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9726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7410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6266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8378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7f9a4c8fa777841d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h7f9a4c8fa777841d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581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3301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6082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7543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h7f9a4c8fa777841d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h7f9a4c8fa777841d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8620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h7f9a4c8fa777841d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h7f9a4c8fa777841d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4355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h7f9a4c8fa777841d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h7f9a4c8fa777841d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2025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1372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1" name="Google Shape;21;p12"/>
          <p:cNvPicPr preferRelativeResize="0"/>
          <p:nvPr/>
        </p:nvPicPr>
        <p:blipFill rotWithShape="1">
          <a:blip r:embed="rId2">
            <a:alphaModFix/>
          </a:blip>
          <a:srcRect/>
          <a:stretch/>
        </p:blipFill>
        <p:spPr>
          <a:xfrm>
            <a:off x="10226037" y="0"/>
            <a:ext cx="1965963" cy="5689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8" name="Google Shape;28;p13" title="SOU_LOGO_new-removebg (1) (9).png"/>
          <p:cNvPicPr preferRelativeResize="0"/>
          <p:nvPr/>
        </p:nvPicPr>
        <p:blipFill rotWithShape="1">
          <a:blip r:embed="rId2">
            <a:alphaModFix/>
          </a:blip>
          <a:srcRect/>
          <a:stretch/>
        </p:blipFill>
        <p:spPr>
          <a:xfrm>
            <a:off x="9815721" y="0"/>
            <a:ext cx="2376274" cy="513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2" name="Google Shape;3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8" name="Google Shape;38;p1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9" name="Google Shape;39;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2" name="Google Shape;42;p15"/>
          <p:cNvPicPr preferRelativeResize="0"/>
          <p:nvPr/>
        </p:nvPicPr>
        <p:blipFill rotWithShape="1">
          <a:blip r:embed="rId2">
            <a:alphaModFix/>
          </a:blip>
          <a:srcRect/>
          <a:stretch/>
        </p:blipFill>
        <p:spPr>
          <a:xfrm>
            <a:off x="10091217" y="0"/>
            <a:ext cx="2066929" cy="59821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6" name="Google Shape;46;p1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7" name="Google Shape;47;p1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1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2" name="Google Shape;52;p16"/>
          <p:cNvPicPr preferRelativeResize="0"/>
          <p:nvPr/>
        </p:nvPicPr>
        <p:blipFill rotWithShape="1">
          <a:blip r:embed="rId2">
            <a:alphaModFix/>
          </a:blip>
          <a:srcRect/>
          <a:stretch/>
        </p:blipFill>
        <p:spPr>
          <a:xfrm>
            <a:off x="10022907" y="1"/>
            <a:ext cx="2137230" cy="6185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5" name="Google Shape;65;p1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6" name="Google Shape;66;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9" name="Google Shape;69;p19"/>
          <p:cNvPicPr preferRelativeResize="0"/>
          <p:nvPr/>
        </p:nvPicPr>
        <p:blipFill rotWithShape="1">
          <a:blip r:embed="rId2">
            <a:alphaModFix/>
          </a:blip>
          <a:srcRect/>
          <a:stretch/>
        </p:blipFill>
        <p:spPr>
          <a:xfrm>
            <a:off x="10020764" y="0"/>
            <a:ext cx="2139373" cy="61918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a:spLocks noGrp="1"/>
          </p:cNvSpPr>
          <p:nvPr>
            <p:ph type="pic" idx="2"/>
          </p:nvPr>
        </p:nvSpPr>
        <p:spPr>
          <a:xfrm>
            <a:off x="2389717" y="612775"/>
            <a:ext cx="7315200" cy="4114800"/>
          </a:xfrm>
          <a:prstGeom prst="rect">
            <a:avLst/>
          </a:prstGeom>
          <a:noFill/>
          <a:ln>
            <a:noFill/>
          </a:ln>
        </p:spPr>
      </p:sp>
      <p:sp>
        <p:nvSpPr>
          <p:cNvPr id="73" name="Google Shape;73;p2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4" name="Google Shape;74;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2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22"/>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2"/>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6" name="Google Shape;86;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scribbr.com/citation/generato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g3f667400058_0_3"/>
          <p:cNvPicPr preferRelativeResize="0"/>
          <p:nvPr/>
        </p:nvPicPr>
        <p:blipFill rotWithShape="1">
          <a:blip r:embed="rId3">
            <a:alphaModFix/>
          </a:blip>
          <a:srcRect r="2610"/>
          <a:stretch/>
        </p:blipFill>
        <p:spPr>
          <a:xfrm>
            <a:off x="-6199" y="-1"/>
            <a:ext cx="12192001" cy="5739325"/>
          </a:xfrm>
          <a:prstGeom prst="rect">
            <a:avLst/>
          </a:prstGeom>
          <a:noFill/>
          <a:ln>
            <a:noFill/>
          </a:ln>
        </p:spPr>
      </p:pic>
      <p:sp>
        <p:nvSpPr>
          <p:cNvPr id="94" name="Google Shape;94;g3f667400058_0_3"/>
          <p:cNvSpPr/>
          <p:nvPr/>
        </p:nvSpPr>
        <p:spPr>
          <a:xfrm>
            <a:off x="-18600" y="3875476"/>
            <a:ext cx="12204300" cy="2982600"/>
          </a:xfrm>
          <a:prstGeom prst="rect">
            <a:avLst/>
          </a:prstGeom>
          <a:solidFill>
            <a:srgbClr val="95373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Times New Roman"/>
              <a:buNone/>
            </a:pPr>
            <a:endParaRPr sz="3600" b="1" i="0" u="none" strike="noStrike" cap="none">
              <a:solidFill>
                <a:schemeClr val="lt1"/>
              </a:solidFill>
              <a:latin typeface="Times New Roman"/>
              <a:ea typeface="Times New Roman"/>
              <a:cs typeface="Times New Roman"/>
              <a:sym typeface="Times New Roman"/>
            </a:endParaRPr>
          </a:p>
        </p:txBody>
      </p:sp>
      <p:sp>
        <p:nvSpPr>
          <p:cNvPr id="95" name="Google Shape;95;g3f667400058_0_3"/>
          <p:cNvSpPr txBox="1"/>
          <p:nvPr/>
        </p:nvSpPr>
        <p:spPr>
          <a:xfrm>
            <a:off x="1041573" y="1308153"/>
            <a:ext cx="10579608" cy="2514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700"/>
              <a:buFont typeface="Arial"/>
              <a:buNone/>
            </a:pPr>
            <a:r>
              <a:rPr lang="en-IN" sz="4400" b="1" i="0" u="none" strike="noStrike" cap="none">
                <a:solidFill>
                  <a:srgbClr val="632423"/>
                </a:solidFill>
                <a:latin typeface="Times New Roman"/>
                <a:ea typeface="Times New Roman"/>
                <a:cs typeface="Times New Roman"/>
                <a:sym typeface="Times New Roman"/>
              </a:rPr>
              <a:t>1010103494</a:t>
            </a:r>
            <a:endParaRPr sz="4400" b="1">
              <a:solidFill>
                <a:srgbClr val="632423"/>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700"/>
              <a:buFont typeface="Arial"/>
              <a:buNone/>
            </a:pPr>
            <a:r>
              <a:rPr lang="en-IN" sz="4400" b="1" i="0" u="none" strike="noStrike" cap="none">
                <a:solidFill>
                  <a:srgbClr val="632423"/>
                </a:solidFill>
                <a:latin typeface="Times New Roman"/>
                <a:ea typeface="Times New Roman"/>
                <a:cs typeface="Times New Roman"/>
                <a:sym typeface="Times New Roman"/>
              </a:rPr>
              <a:t>Minor Project</a:t>
            </a:r>
            <a:endParaRPr sz="4400" b="1">
              <a:solidFill>
                <a:srgbClr val="632423"/>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700"/>
              <a:buFont typeface="Arial"/>
              <a:buNone/>
            </a:pPr>
            <a:r>
              <a:rPr lang="en-IN" sz="2200" b="1" i="0" u="none" strike="noStrike" cap="none">
                <a:solidFill>
                  <a:srgbClr val="632423"/>
                </a:solidFill>
                <a:latin typeface="Times New Roman"/>
                <a:ea typeface="Times New Roman"/>
                <a:cs typeface="Times New Roman"/>
                <a:sym typeface="Times New Roman"/>
              </a:rPr>
              <a:t>Android Root Detection &amp; SSL Pinning Assessment Platform</a:t>
            </a:r>
            <a:endParaRPr sz="2200" b="1" i="0" u="none" strike="noStrike" cap="none">
              <a:solidFill>
                <a:srgbClr val="632423"/>
              </a:solidFill>
              <a:latin typeface="Times New Roman"/>
              <a:ea typeface="Times New Roman"/>
              <a:cs typeface="Times New Roman"/>
              <a:sym typeface="Times New Roman"/>
            </a:endParaRPr>
          </a:p>
        </p:txBody>
      </p:sp>
      <p:pic>
        <p:nvPicPr>
          <p:cNvPr id="96" name="Google Shape;96;g3f667400058_0_3" title="SOU_LOGO_new-removebg (1) (9).png"/>
          <p:cNvPicPr preferRelativeResize="0"/>
          <p:nvPr/>
        </p:nvPicPr>
        <p:blipFill rotWithShape="1">
          <a:blip r:embed="rId4">
            <a:alphaModFix/>
          </a:blip>
          <a:srcRect/>
          <a:stretch/>
        </p:blipFill>
        <p:spPr>
          <a:xfrm>
            <a:off x="8898992" y="0"/>
            <a:ext cx="3292999" cy="712000"/>
          </a:xfrm>
          <a:prstGeom prst="rect">
            <a:avLst/>
          </a:prstGeom>
          <a:noFill/>
          <a:ln>
            <a:noFill/>
          </a:ln>
        </p:spPr>
      </p:pic>
      <p:graphicFrame>
        <p:nvGraphicFramePr>
          <p:cNvPr id="97" name="Google Shape;97;g3f667400058_0_3"/>
          <p:cNvGraphicFramePr/>
          <p:nvPr/>
        </p:nvGraphicFramePr>
        <p:xfrm>
          <a:off x="1041575" y="4066800"/>
          <a:ext cx="10019325" cy="2666850"/>
        </p:xfrm>
        <a:graphic>
          <a:graphicData uri="http://schemas.openxmlformats.org/drawingml/2006/table">
            <a:tbl>
              <a:tblPr>
                <a:noFill/>
                <a:tableStyleId>{E6842684-3C82-4E12-BA42-3301D1F0D74C}</a:tableStyleId>
              </a:tblPr>
              <a:tblGrid>
                <a:gridCol w="4070375"/>
                <a:gridCol w="5948950"/>
              </a:tblGrid>
              <a:tr h="381000">
                <a:tc>
                  <a:txBody>
                    <a:bodyPr/>
                    <a:lstStyle/>
                    <a:p>
                      <a:pPr marL="0" marR="0" lvl="0" indent="0" algn="l" rtl="0">
                        <a:lnSpc>
                          <a:spcPct val="100000"/>
                        </a:lnSpc>
                        <a:spcBef>
                          <a:spcPts val="0"/>
                        </a:spcBef>
                        <a:spcAft>
                          <a:spcPts val="0"/>
                        </a:spcAft>
                        <a:buClr>
                          <a:srgbClr val="000000"/>
                        </a:buClr>
                        <a:buSzPts val="2300"/>
                        <a:buFont typeface="Arial"/>
                        <a:buNone/>
                      </a:pPr>
                      <a:r>
                        <a:rPr lang="en-IN" sz="2300" b="1" u="none" strike="noStrike" cap="none">
                          <a:solidFill>
                            <a:schemeClr val="lt1"/>
                          </a:solidFill>
                          <a:latin typeface="Cambria"/>
                          <a:ea typeface="Cambria"/>
                          <a:cs typeface="Cambria"/>
                          <a:sym typeface="Cambria"/>
                        </a:rPr>
                        <a:t>Project ID</a:t>
                      </a:r>
                      <a:endParaRPr sz="2300" b="1" u="none" strike="noStrike" cap="none">
                        <a:solidFill>
                          <a:schemeClr val="lt1"/>
                        </a:solidFill>
                        <a:latin typeface="Cambria"/>
                        <a:ea typeface="Cambria"/>
                        <a:cs typeface="Cambria"/>
                        <a:sym typeface="Cambria"/>
                      </a:endParaR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300" b="0">
                          <a:solidFill>
                            <a:srgbClr val="000000"/>
                          </a:solidFill>
                          <a:latin typeface="Cambria"/>
                          <a:ea typeface="Cambria"/>
                          <a:cs typeface="Cambria"/>
                          <a:sym typeface="Cambria"/>
                        </a:rPr>
                        <a:t>CSE_CS_03</a:t>
                      </a: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81000">
                <a:tc>
                  <a:txBody>
                    <a:bodyPr/>
                    <a:lstStyle/>
                    <a:p>
                      <a:pPr marL="0" marR="0" lvl="0" indent="0" algn="l" rtl="0">
                        <a:lnSpc>
                          <a:spcPct val="100000"/>
                        </a:lnSpc>
                        <a:spcBef>
                          <a:spcPts val="0"/>
                        </a:spcBef>
                        <a:spcAft>
                          <a:spcPts val="0"/>
                        </a:spcAft>
                        <a:buClr>
                          <a:srgbClr val="000000"/>
                        </a:buClr>
                        <a:buSzPts val="2300"/>
                        <a:buFont typeface="Arial"/>
                        <a:buNone/>
                      </a:pPr>
                      <a:r>
                        <a:rPr lang="en-IN" sz="2300" b="1" u="none" strike="noStrike" cap="none">
                          <a:solidFill>
                            <a:schemeClr val="lt1"/>
                          </a:solidFill>
                          <a:latin typeface="Cambria"/>
                          <a:ea typeface="Cambria"/>
                          <a:cs typeface="Cambria"/>
                          <a:sym typeface="Cambria"/>
                        </a:rPr>
                        <a:t>Enrollment No</a:t>
                      </a:r>
                      <a:endParaRPr sz="2300" b="1" u="none" strike="noStrike" cap="none">
                        <a:solidFill>
                          <a:schemeClr val="lt1"/>
                        </a:solidFill>
                        <a:latin typeface="Cambria"/>
                        <a:ea typeface="Cambria"/>
                        <a:cs typeface="Cambria"/>
                        <a:sym typeface="Cambria"/>
                      </a:endParaR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300" b="0">
                          <a:solidFill>
                            <a:srgbClr val="000000"/>
                          </a:solidFill>
                          <a:latin typeface="Cambria"/>
                          <a:ea typeface="Cambria"/>
                          <a:cs typeface="Cambria"/>
                          <a:sym typeface="Cambria"/>
                        </a:rPr>
                        <a:t>2301030700073, 2301030700068, 2301030700046</a:t>
                      </a: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81000">
                <a:tc>
                  <a:txBody>
                    <a:bodyPr/>
                    <a:lstStyle/>
                    <a:p>
                      <a:pPr marL="0" marR="0" lvl="0" indent="0" algn="l" rtl="0">
                        <a:lnSpc>
                          <a:spcPct val="100000"/>
                        </a:lnSpc>
                        <a:spcBef>
                          <a:spcPts val="0"/>
                        </a:spcBef>
                        <a:spcAft>
                          <a:spcPts val="0"/>
                        </a:spcAft>
                        <a:buClr>
                          <a:srgbClr val="000000"/>
                        </a:buClr>
                        <a:buSzPts val="2300"/>
                        <a:buFont typeface="Arial"/>
                        <a:buNone/>
                      </a:pPr>
                      <a:r>
                        <a:rPr lang="en-IN" sz="2300" b="1" u="none" strike="noStrike" cap="none">
                          <a:solidFill>
                            <a:schemeClr val="lt1"/>
                          </a:solidFill>
                          <a:latin typeface="Cambria"/>
                          <a:ea typeface="Cambria"/>
                          <a:cs typeface="Cambria"/>
                          <a:sym typeface="Cambria"/>
                        </a:rPr>
                        <a:t>Name</a:t>
                      </a:r>
                      <a:endParaRPr sz="2300" b="1" u="none" strike="noStrike" cap="none">
                        <a:solidFill>
                          <a:schemeClr val="lt1"/>
                        </a:solidFill>
                        <a:latin typeface="Cambria"/>
                        <a:ea typeface="Cambria"/>
                        <a:cs typeface="Cambria"/>
                        <a:sym typeface="Cambria"/>
                      </a:endParaR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200" b="0">
                          <a:solidFill>
                            <a:srgbClr val="000000"/>
                          </a:solidFill>
                          <a:latin typeface="Cambria"/>
                          <a:ea typeface="Cambria"/>
                          <a:cs typeface="Cambria"/>
                          <a:sym typeface="Cambria"/>
                        </a:rPr>
                        <a:t>Divyang Zinzuwadiya, Heta Vaghela, Harshita Rajput</a:t>
                      </a: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81000">
                <a:tc>
                  <a:txBody>
                    <a:bodyPr/>
                    <a:lstStyle/>
                    <a:p>
                      <a:pPr marL="0" marR="0" lvl="0" indent="0" algn="l" rtl="0">
                        <a:lnSpc>
                          <a:spcPct val="100000"/>
                        </a:lnSpc>
                        <a:spcBef>
                          <a:spcPts val="0"/>
                        </a:spcBef>
                        <a:spcAft>
                          <a:spcPts val="0"/>
                        </a:spcAft>
                        <a:buClr>
                          <a:srgbClr val="000000"/>
                        </a:buClr>
                        <a:buSzPts val="2300"/>
                        <a:buFont typeface="Arial"/>
                        <a:buNone/>
                      </a:pPr>
                      <a:r>
                        <a:rPr lang="en-IN" sz="2300" b="1" u="none" strike="noStrike" cap="none">
                          <a:solidFill>
                            <a:schemeClr val="lt1"/>
                          </a:solidFill>
                          <a:latin typeface="Cambria"/>
                          <a:ea typeface="Cambria"/>
                          <a:cs typeface="Cambria"/>
                          <a:sym typeface="Cambria"/>
                        </a:rPr>
                        <a:t>Branch</a:t>
                      </a:r>
                      <a:endParaRPr sz="2300" b="1" u="none" strike="noStrike" cap="none">
                        <a:solidFill>
                          <a:schemeClr val="lt1"/>
                        </a:solidFill>
                        <a:latin typeface="Cambria"/>
                        <a:ea typeface="Cambria"/>
                        <a:cs typeface="Cambria"/>
                        <a:sym typeface="Cambria"/>
                      </a:endParaR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300" b="0">
                          <a:solidFill>
                            <a:srgbClr val="000000"/>
                          </a:solidFill>
                          <a:latin typeface="Cambria"/>
                          <a:ea typeface="Cambria"/>
                          <a:cs typeface="Cambria"/>
                          <a:sym typeface="Cambria"/>
                        </a:rPr>
                        <a:t>B.Tech CSE-CS</a:t>
                      </a: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81000">
                <a:tc>
                  <a:txBody>
                    <a:bodyPr/>
                    <a:lstStyle/>
                    <a:p>
                      <a:pPr marL="0" marR="0" lvl="0" indent="0" algn="l" rtl="0">
                        <a:lnSpc>
                          <a:spcPct val="100000"/>
                        </a:lnSpc>
                        <a:spcBef>
                          <a:spcPts val="0"/>
                        </a:spcBef>
                        <a:spcAft>
                          <a:spcPts val="0"/>
                        </a:spcAft>
                        <a:buClr>
                          <a:srgbClr val="000000"/>
                        </a:buClr>
                        <a:buSzPts val="2300"/>
                        <a:buFont typeface="Arial"/>
                        <a:buNone/>
                      </a:pPr>
                      <a:r>
                        <a:rPr lang="en-IN" sz="2300" b="1" u="none" strike="noStrike" cap="none">
                          <a:solidFill>
                            <a:schemeClr val="lt1"/>
                          </a:solidFill>
                          <a:latin typeface="Cambria"/>
                          <a:ea typeface="Cambria"/>
                          <a:cs typeface="Cambria"/>
                          <a:sym typeface="Cambria"/>
                        </a:rPr>
                        <a:t>Guide Name</a:t>
                      </a:r>
                      <a:endParaRPr sz="2300" b="1" u="none" strike="noStrike" cap="none">
                        <a:solidFill>
                          <a:schemeClr val="lt1"/>
                        </a:solidFill>
                        <a:latin typeface="Cambria"/>
                        <a:ea typeface="Cambria"/>
                        <a:cs typeface="Cambria"/>
                        <a:sym typeface="Cambria"/>
                      </a:endParaR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300" b="0">
                          <a:solidFill>
                            <a:srgbClr val="000000"/>
                          </a:solidFill>
                          <a:latin typeface="Cambria"/>
                          <a:ea typeface="Cambria"/>
                          <a:cs typeface="Cambria"/>
                          <a:sym typeface="Cambria"/>
                        </a:rPr>
                        <a:t>Mr. Shreyas Raybole</a:t>
                      </a: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Index</a:t>
            </a:r>
            <a:endParaRPr>
              <a:latin typeface="Cambria"/>
              <a:ea typeface="Cambria"/>
              <a:cs typeface="Cambria"/>
              <a:sym typeface="Cambria"/>
            </a:endParaRPr>
          </a:p>
        </p:txBody>
      </p:sp>
      <p:sp>
        <p:nvSpPr>
          <p:cNvPr id="103" name="Google Shape;103;p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281940" algn="l" rtl="0">
              <a:lnSpc>
                <a:spcPct val="100000"/>
              </a:lnSpc>
              <a:spcBef>
                <a:spcPts val="0"/>
              </a:spcBef>
              <a:spcAft>
                <a:spcPts val="0"/>
              </a:spcAft>
              <a:buClr>
                <a:schemeClr val="dk1"/>
              </a:buClr>
              <a:buSzPct val="100000"/>
              <a:buFont typeface="Cambria"/>
              <a:buChar char="•"/>
            </a:pPr>
            <a:r>
              <a:rPr lang="en-IN">
                <a:latin typeface="Cambria"/>
                <a:ea typeface="Cambria"/>
                <a:cs typeface="Cambria"/>
                <a:sym typeface="Cambria"/>
              </a:rPr>
              <a:t>Introduction</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Background and Motivation</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Relevance and Importance</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Literature review</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Research Gap</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Objectives</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Required Dataset,Tools and Technology</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Methodology</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Result</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Conclusion</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Future Work</a:t>
            </a:r>
            <a:endParaRPr>
              <a:latin typeface="Cambria"/>
              <a:ea typeface="Cambria"/>
              <a:cs typeface="Cambria"/>
              <a:sym typeface="Cambria"/>
            </a:endParaRPr>
          </a:p>
          <a:p>
            <a:pPr marL="342900" lvl="0" indent="-281940" algn="l" rtl="0">
              <a:lnSpc>
                <a:spcPct val="100000"/>
              </a:lnSpc>
              <a:spcBef>
                <a:spcPts val="640"/>
              </a:spcBef>
              <a:spcAft>
                <a:spcPts val="0"/>
              </a:spcAft>
              <a:buClr>
                <a:schemeClr val="dk1"/>
              </a:buClr>
              <a:buSzPct val="100000"/>
              <a:buFont typeface="Cambria"/>
              <a:buChar char="•"/>
            </a:pPr>
            <a:r>
              <a:rPr lang="en-IN">
                <a:latin typeface="Cambria"/>
                <a:ea typeface="Cambria"/>
                <a:cs typeface="Cambria"/>
                <a:sym typeface="Cambria"/>
              </a:rPr>
              <a:t>References</a:t>
            </a:r>
            <a:endParaRPr>
              <a:latin typeface="Cambria"/>
              <a:ea typeface="Cambria"/>
              <a:cs typeface="Cambria"/>
              <a:sym typeface="Cambria"/>
            </a:endParaRPr>
          </a:p>
        </p:txBody>
      </p:sp>
      <p:sp>
        <p:nvSpPr>
          <p:cNvPr id="104" name="Google Shape;104;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IN"/>
              <a:t>24-10-2026</a:t>
            </a:r>
          </a:p>
        </p:txBody>
      </p:sp>
      <p:sp>
        <p:nvSpPr>
          <p:cNvPr id="105" name="Google Shape;105;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Introduction</a:t>
            </a:r>
            <a:endParaRPr>
              <a:latin typeface="Cambria"/>
              <a:ea typeface="Cambria"/>
              <a:cs typeface="Cambria"/>
              <a:sym typeface="Cambria"/>
            </a:endParaRPr>
          </a:p>
        </p:txBody>
      </p:sp>
      <p:sp>
        <p:nvSpPr>
          <p:cNvPr id="111" name="Google Shape;111;p3"/>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An </a:t>
            </a:r>
            <a:r>
              <a:rPr lang="en-IN" sz="1600" b="1">
                <a:solidFill>
                  <a:srgbClr val="000000"/>
                </a:solidFill>
                <a:latin typeface="Cambria"/>
                <a:ea typeface="Cambria"/>
                <a:cs typeface="Cambria"/>
                <a:sym typeface="Cambria"/>
              </a:rPr>
              <a:t>Android application security analysis platform</a:t>
            </a:r>
            <a:r>
              <a:rPr lang="en-IN" sz="1600">
                <a:solidFill>
                  <a:srgbClr val="000000"/>
                </a:solidFill>
                <a:latin typeface="Cambria"/>
                <a:ea typeface="Cambria"/>
                <a:cs typeface="Cambria"/>
                <a:sym typeface="Cambria"/>
              </a:rPr>
              <a:t> that examines any APK and determines whether it implements </a:t>
            </a:r>
            <a:r>
              <a:rPr lang="en-IN" sz="1600" b="1">
                <a:solidFill>
                  <a:srgbClr val="000000"/>
                </a:solidFill>
                <a:latin typeface="Cambria"/>
                <a:ea typeface="Cambria"/>
                <a:cs typeface="Cambria"/>
                <a:sym typeface="Cambria"/>
              </a:rPr>
              <a:t>root detection</a:t>
            </a:r>
            <a:r>
              <a:rPr lang="en-IN" sz="1600">
                <a:solidFill>
                  <a:srgbClr val="000000"/>
                </a:solidFill>
                <a:latin typeface="Cambria"/>
                <a:ea typeface="Cambria"/>
                <a:cs typeface="Cambria"/>
                <a:sym typeface="Cambria"/>
              </a:rPr>
              <a:t>, </a:t>
            </a:r>
            <a:r>
              <a:rPr lang="en-IN" sz="1600" b="1">
                <a:solidFill>
                  <a:srgbClr val="000000"/>
                </a:solidFill>
                <a:latin typeface="Cambria"/>
                <a:ea typeface="Cambria"/>
                <a:cs typeface="Cambria"/>
                <a:sym typeface="Cambria"/>
              </a:rPr>
              <a:t>SSL/TLS certificate pinning</a:t>
            </a:r>
            <a:r>
              <a:rPr lang="en-IN" sz="1600">
                <a:solidFill>
                  <a:srgbClr val="000000"/>
                </a:solidFill>
                <a:latin typeface="Cambria"/>
                <a:ea typeface="Cambria"/>
                <a:cs typeface="Cambria"/>
                <a:sym typeface="Cambria"/>
              </a:rPr>
              <a:t>, </a:t>
            </a:r>
            <a:r>
              <a:rPr lang="en-IN" sz="1600" b="1">
                <a:solidFill>
                  <a:srgbClr val="000000"/>
                </a:solidFill>
                <a:latin typeface="Cambria"/>
                <a:ea typeface="Cambria"/>
                <a:cs typeface="Cambria"/>
                <a:sym typeface="Cambria"/>
              </a:rPr>
              <a:t>both</a:t>
            </a:r>
            <a:r>
              <a:rPr lang="en-IN" sz="1600">
                <a:solidFill>
                  <a:srgbClr val="000000"/>
                </a:solidFill>
                <a:latin typeface="Cambria"/>
                <a:ea typeface="Cambria"/>
                <a:cs typeface="Cambria"/>
                <a:sym typeface="Cambria"/>
              </a:rPr>
              <a:t> or </a:t>
            </a:r>
            <a:r>
              <a:rPr lang="en-IN" sz="1600" b="1">
                <a:solidFill>
                  <a:srgbClr val="000000"/>
                </a:solidFill>
                <a:latin typeface="Cambria"/>
                <a:ea typeface="Cambria"/>
                <a:cs typeface="Cambria"/>
                <a:sym typeface="Cambria"/>
              </a:rPr>
              <a:t>neither</a:t>
            </a:r>
            <a:r>
              <a:rPr lang="en-IN" sz="1600">
                <a:solidFill>
                  <a:srgbClr val="000000"/>
                </a:solidFill>
                <a:latin typeface="Cambria"/>
                <a:ea typeface="Cambria"/>
                <a:cs typeface="Cambria"/>
                <a:sym typeface="Cambria"/>
              </a:rPr>
              <a:t> — and then verifies at runtime whether the detected protection can actually be bypassed.</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Existing tools such as MobSF and QARK report only the </a:t>
            </a:r>
            <a:r>
              <a:rPr lang="en-IN" sz="1600" b="1">
                <a:solidFill>
                  <a:srgbClr val="000000"/>
                </a:solidFill>
                <a:latin typeface="Cambria"/>
                <a:ea typeface="Cambria"/>
                <a:cs typeface="Cambria"/>
                <a:sym typeface="Cambria"/>
              </a:rPr>
              <a:t>presence</a:t>
            </a:r>
            <a:r>
              <a:rPr lang="en-IN" sz="1600">
                <a:solidFill>
                  <a:srgbClr val="000000"/>
                </a:solidFill>
                <a:latin typeface="Cambria"/>
                <a:ea typeface="Cambria"/>
                <a:cs typeface="Cambria"/>
                <a:sym typeface="Cambria"/>
              </a:rPr>
              <a:t> of these mechanisms. They never confirm whether the protection genuinely works, and they never measure the accuracy of their own verdicts.</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The pipeline follows a fixed, reproducible flow: </a:t>
            </a:r>
            <a:r>
              <a:rPr lang="en-IN" sz="1600" b="1">
                <a:solidFill>
                  <a:srgbClr val="000000"/>
                </a:solidFill>
                <a:latin typeface="Cambria"/>
                <a:ea typeface="Cambria"/>
                <a:cs typeface="Cambria"/>
                <a:sym typeface="Cambria"/>
              </a:rPr>
              <a:t>ingest → static signature detection → decision engine → targeted dynamic bypass → report → calibration.</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Every finding carries </a:t>
            </a:r>
            <a:r>
              <a:rPr lang="en-IN" sz="1600" b="1">
                <a:solidFill>
                  <a:srgbClr val="000000"/>
                </a:solidFill>
                <a:latin typeface="Cambria"/>
                <a:ea typeface="Cambria"/>
                <a:cs typeface="Cambria"/>
                <a:sym typeface="Cambria"/>
              </a:rPr>
              <a:t>two independent levels of evidence</a:t>
            </a:r>
            <a:r>
              <a:rPr lang="en-IN" sz="1600">
                <a:solidFill>
                  <a:srgbClr val="000000"/>
                </a:solidFill>
                <a:latin typeface="Cambria"/>
                <a:ea typeface="Cambria"/>
                <a:cs typeface="Cambria"/>
                <a:sym typeface="Cambria"/>
              </a:rPr>
              <a:t>:</a:t>
            </a:r>
          </a:p>
          <a:p>
            <a:pPr marL="742950" lvl="1" indent="-285750" algn="l" rtl="0">
              <a:lnSpc>
                <a:spcPct val="100000"/>
              </a:lnSpc>
              <a:spcBef>
                <a:spcPts val="0"/>
              </a:spcBef>
              <a:spcAft>
                <a:spcPts val="0"/>
              </a:spcAft>
              <a:buFont typeface="Cambria"/>
              <a:buChar char="–"/>
            </a:pPr>
            <a:r>
              <a:rPr lang="en-IN" sz="1600" b="1">
                <a:solidFill>
                  <a:srgbClr val="000000"/>
                </a:solidFill>
                <a:latin typeface="Cambria"/>
                <a:ea typeface="Cambria"/>
                <a:cs typeface="Cambria"/>
                <a:sym typeface="Cambria"/>
              </a:rPr>
              <a:t>Static evidence</a:t>
            </a:r>
            <a:r>
              <a:rPr lang="en-IN" sz="1600">
                <a:solidFill>
                  <a:srgbClr val="000000"/>
                </a:solidFill>
                <a:latin typeface="Cambria"/>
                <a:ea typeface="Cambria"/>
                <a:cs typeface="Cambria"/>
                <a:sym typeface="Cambria"/>
              </a:rPr>
              <a:t> — deterministic rule matches, each cited with file name and line number.</a:t>
            </a:r>
          </a:p>
          <a:p>
            <a:pPr marL="742950" lvl="1" indent="-285750" algn="l" rtl="0">
              <a:lnSpc>
                <a:spcPct val="100000"/>
              </a:lnSpc>
              <a:spcBef>
                <a:spcPts val="0"/>
              </a:spcBef>
              <a:spcAft>
                <a:spcPts val="0"/>
              </a:spcAft>
              <a:buFont typeface="Cambria"/>
              <a:buChar char="–"/>
            </a:pPr>
            <a:r>
              <a:rPr lang="en-IN" sz="1600" b="1">
                <a:solidFill>
                  <a:srgbClr val="000000"/>
                </a:solidFill>
                <a:latin typeface="Cambria"/>
                <a:ea typeface="Cambria"/>
                <a:cs typeface="Cambria"/>
                <a:sym typeface="Cambria"/>
              </a:rPr>
              <a:t>Dynamic evidence</a:t>
            </a:r>
            <a:r>
              <a:rPr lang="en-IN" sz="1600">
                <a:solidFill>
                  <a:srgbClr val="000000"/>
                </a:solidFill>
                <a:latin typeface="Cambria"/>
                <a:ea typeface="Cambria"/>
                <a:cs typeface="Cambria"/>
                <a:sym typeface="Cambria"/>
              </a:rPr>
              <a:t> — a Frida and ADB instrumentation run in which the application's own check is observed to accept the instrumented environment.</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The platform is validated end-to-end against </a:t>
            </a:r>
            <a:r>
              <a:rPr lang="en-IN" sz="1600" b="1">
                <a:solidFill>
                  <a:srgbClr val="000000"/>
                </a:solidFill>
                <a:latin typeface="Cambria"/>
                <a:ea typeface="Cambria"/>
                <a:cs typeface="Cambria"/>
                <a:sym typeface="Cambria"/>
              </a:rPr>
              <a:t>OWASP UnCrackable Level 1, 2 and 3</a:t>
            </a:r>
            <a:r>
              <a:rPr lang="en-IN" sz="1600">
                <a:solidFill>
                  <a:srgbClr val="000000"/>
                </a:solidFill>
                <a:latin typeface="Cambria"/>
                <a:ea typeface="Cambria"/>
                <a:cs typeface="Cambria"/>
                <a:sym typeface="Cambria"/>
              </a:rPr>
              <a:t>, plus a wider calibration corpus of real store applications, and is evaluated with </a:t>
            </a:r>
            <a:r>
              <a:rPr lang="en-IN" sz="1600" b="1">
                <a:solidFill>
                  <a:srgbClr val="000000"/>
                </a:solidFill>
                <a:latin typeface="Cambria"/>
                <a:ea typeface="Cambria"/>
                <a:cs typeface="Cambria"/>
                <a:sym typeface="Cambria"/>
              </a:rPr>
              <a:t>measured precision, recall and F1</a:t>
            </a:r>
            <a:r>
              <a:rPr lang="en-IN" sz="1600">
                <a:solidFill>
                  <a:srgbClr val="000000"/>
                </a:solidFill>
                <a:latin typeface="Cambria"/>
                <a:ea typeface="Cambria"/>
                <a:cs typeface="Cambria"/>
                <a:sym typeface="Cambria"/>
              </a:rPr>
              <a:t> rather than unsupported claims.</a:t>
            </a:r>
          </a:p>
        </p:txBody>
      </p:sp>
      <p:sp>
        <p:nvSpPr>
          <p:cNvPr id="112" name="Google Shape;112;p3"/>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13" name="Google Shape;113;p3"/>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3</a:t>
            </a:fld>
            <a:endParaRPr/>
          </a:p>
        </p:txBody>
      </p:sp>
      <p:sp>
        <p:nvSpPr>
          <p:cNvPr id="114" name="Google Shape;114;p3"/>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DEPARTMENT OF COMPUTER ENGINEERING </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800"/>
              <a:buFont typeface="Calibri"/>
              <a:buNone/>
            </a:pPr>
            <a:r>
              <a:rPr lang="en-IN" sz="1800" b="0" i="0" u="none" strike="noStrike" cap="none">
                <a:solidFill>
                  <a:schemeClr val="dk1"/>
                </a:solidFill>
                <a:latin typeface="Calibri"/>
                <a:ea typeface="Calibri"/>
                <a:cs typeface="Calibri"/>
                <a:sym typeface="Calibri"/>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Background and Motivation</a:t>
            </a:r>
            <a:endParaRPr>
              <a:latin typeface="Cambria"/>
              <a:ea typeface="Cambria"/>
              <a:cs typeface="Cambria"/>
              <a:sym typeface="Cambria"/>
            </a:endParaRPr>
          </a:p>
        </p:txBody>
      </p:sp>
      <p:sp>
        <p:nvSpPr>
          <p:cNvPr id="120" name="Google Shape;120;p4"/>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Reverse engineering an Android APK to determine whether it implements </a:t>
            </a:r>
            <a:r>
              <a:rPr lang="en-IN" sz="1500" b="1">
                <a:solidFill>
                  <a:srgbClr val="000000"/>
                </a:solidFill>
                <a:latin typeface="Cambria"/>
                <a:ea typeface="Cambria"/>
                <a:cs typeface="Cambria"/>
                <a:sym typeface="Cambria"/>
              </a:rPr>
              <a:t>root detection</a:t>
            </a:r>
            <a:r>
              <a:rPr lang="en-IN" sz="1500">
                <a:solidFill>
                  <a:srgbClr val="000000"/>
                </a:solidFill>
                <a:latin typeface="Cambria"/>
                <a:ea typeface="Cambria"/>
                <a:cs typeface="Cambria"/>
                <a:sym typeface="Cambria"/>
              </a:rPr>
              <a:t> or </a:t>
            </a:r>
            <a:r>
              <a:rPr lang="en-IN" sz="1500" b="1">
                <a:solidFill>
                  <a:srgbClr val="000000"/>
                </a:solidFill>
                <a:latin typeface="Cambria"/>
                <a:ea typeface="Cambria"/>
                <a:cs typeface="Cambria"/>
                <a:sym typeface="Cambria"/>
              </a:rPr>
              <a:t>SSL/TLS pinning</a:t>
            </a:r>
            <a:r>
              <a:rPr lang="en-IN" sz="1500">
                <a:solidFill>
                  <a:srgbClr val="000000"/>
                </a:solidFill>
                <a:latin typeface="Cambria"/>
                <a:ea typeface="Cambria"/>
                <a:cs typeface="Cambria"/>
                <a:sym typeface="Cambria"/>
              </a:rPr>
              <a:t> is </a:t>
            </a:r>
            <a:r>
              <a:rPr lang="en-IN" sz="1500" b="1">
                <a:solidFill>
                  <a:srgbClr val="000000"/>
                </a:solidFill>
                <a:latin typeface="Cambria"/>
                <a:ea typeface="Cambria"/>
                <a:cs typeface="Cambria"/>
                <a:sym typeface="Cambria"/>
              </a:rPr>
              <a:t>slow</a:t>
            </a:r>
            <a:r>
              <a:rPr lang="en-IN" sz="1500">
                <a:solidFill>
                  <a:srgbClr val="000000"/>
                </a:solidFill>
                <a:latin typeface="Cambria"/>
                <a:ea typeface="Cambria"/>
                <a:cs typeface="Cambria"/>
                <a:sym typeface="Cambria"/>
              </a:rPr>
              <a:t>, </a:t>
            </a:r>
            <a:r>
              <a:rPr lang="en-IN" sz="1500" b="1">
                <a:solidFill>
                  <a:srgbClr val="000000"/>
                </a:solidFill>
                <a:latin typeface="Cambria"/>
                <a:ea typeface="Cambria"/>
                <a:cs typeface="Cambria"/>
                <a:sym typeface="Cambria"/>
              </a:rPr>
              <a:t>analyst-dependent</a:t>
            </a:r>
            <a:r>
              <a:rPr lang="en-IN" sz="1500">
                <a:solidFill>
                  <a:srgbClr val="000000"/>
                </a:solidFill>
                <a:latin typeface="Cambria"/>
                <a:ea typeface="Cambria"/>
                <a:cs typeface="Cambria"/>
                <a:sym typeface="Cambria"/>
              </a:rPr>
              <a:t> and </a:t>
            </a:r>
            <a:r>
              <a:rPr lang="en-IN" sz="1500" b="1">
                <a:solidFill>
                  <a:srgbClr val="000000"/>
                </a:solidFill>
                <a:latin typeface="Cambria"/>
                <a:ea typeface="Cambria"/>
                <a:cs typeface="Cambria"/>
                <a:sym typeface="Cambria"/>
              </a:rPr>
              <a:t>hard to reproduce</a:t>
            </a:r>
            <a:r>
              <a:rPr lang="en-IN" sz="1500">
                <a:solidFill>
                  <a:srgbClr val="000000"/>
                </a:solidFill>
                <a:latin typeface="Cambria"/>
                <a:ea typeface="Cambria"/>
                <a:cs typeface="Cambria"/>
                <a:sym typeface="Cambria"/>
              </a:rPr>
              <a:t>. Claims of “the protection was found” or “the protection was bypassed” are commonly </a:t>
            </a:r>
            <a:r>
              <a:rPr lang="en-IN" sz="1500" b="1">
                <a:solidFill>
                  <a:srgbClr val="000000"/>
                </a:solidFill>
                <a:latin typeface="Cambria"/>
                <a:ea typeface="Cambria"/>
                <a:cs typeface="Cambria"/>
                <a:sym typeface="Cambria"/>
              </a:rPr>
              <a:t>asserted rather than proven</a:t>
            </a:r>
            <a:r>
              <a:rPr lang="en-IN" sz="1500">
                <a:solidFill>
                  <a:srgbClr val="000000"/>
                </a:solidFill>
                <a:latin typeface="Cambria"/>
                <a:ea typeface="Cambria"/>
                <a:cs typeface="Cambria"/>
                <a:sym typeface="Cambria"/>
              </a:rPr>
              <a:t>.</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Existing static-analysis tools surface indicators, but stop there. They do not automatically perform the relevant bypass, do not verify whether that bypass actually succeeded, and do not track their own detection accuracy over successive runs.</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The motivation is a </a:t>
            </a:r>
            <a:r>
              <a:rPr lang="en-IN" sz="1500" b="1">
                <a:solidFill>
                  <a:srgbClr val="000000"/>
                </a:solidFill>
                <a:latin typeface="Cambria"/>
                <a:ea typeface="Cambria"/>
                <a:cs typeface="Cambria"/>
                <a:sym typeface="Cambria"/>
              </a:rPr>
              <a:t>deterministic, evidence-based</a:t>
            </a:r>
            <a:r>
              <a:rPr lang="en-IN" sz="1500">
                <a:solidFill>
                  <a:srgbClr val="000000"/>
                </a:solidFill>
                <a:latin typeface="Cambria"/>
                <a:ea typeface="Cambria"/>
                <a:cs typeface="Cambria"/>
                <a:sym typeface="Cambria"/>
              </a:rPr>
              <a:t> platform that:</a:t>
            </a:r>
          </a:p>
          <a:p>
            <a:pPr marL="742950" lvl="1" indent="-28575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Detects each protection together with concrete file-and-line evidence.</a:t>
            </a:r>
          </a:p>
          <a:p>
            <a:pPr marL="742950" lvl="1" indent="-28575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Executes the bypass pipeline only for the categories that were actually detected, skipping irrelevant analysis.</a:t>
            </a:r>
          </a:p>
          <a:p>
            <a:pPr marL="742950" lvl="1" indent="-28575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Reports confidence that is </a:t>
            </a:r>
            <a:r>
              <a:rPr lang="en-IN" sz="1500" b="1">
                <a:solidFill>
                  <a:srgbClr val="000000"/>
                </a:solidFill>
                <a:latin typeface="Cambria"/>
                <a:ea typeface="Cambria"/>
                <a:cs typeface="Cambria"/>
                <a:sym typeface="Cambria"/>
              </a:rPr>
              <a:t>measured</a:t>
            </a:r>
            <a:r>
              <a:rPr lang="en-IN" sz="1500">
                <a:solidFill>
                  <a:srgbClr val="000000"/>
                </a:solidFill>
                <a:latin typeface="Cambria"/>
                <a:ea typeface="Cambria"/>
                <a:cs typeface="Cambria"/>
                <a:sym typeface="Cambria"/>
              </a:rPr>
              <a:t> from accumulated ground-truthed runs, never asserted.</a:t>
            </a:r>
          </a:p>
          <a:p>
            <a:pPr marL="742950" lvl="1" indent="-28575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Places AI strictly on top of a working deterministic core, never in place of it.</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A </a:t>
            </a:r>
            <a:r>
              <a:rPr lang="en-IN" sz="1500" b="1">
                <a:solidFill>
                  <a:srgbClr val="000000"/>
                </a:solidFill>
                <a:latin typeface="Cambria"/>
                <a:ea typeface="Cambria"/>
                <a:cs typeface="Cambria"/>
                <a:sym typeface="Cambria"/>
              </a:rPr>
              <a:t>reliability-first</a:t>
            </a:r>
            <a:r>
              <a:rPr lang="en-IN" sz="1500">
                <a:solidFill>
                  <a:srgbClr val="000000"/>
                </a:solidFill>
                <a:latin typeface="Cambria"/>
                <a:ea typeface="Cambria"/>
                <a:cs typeface="Cambria"/>
                <a:sym typeface="Cambria"/>
              </a:rPr>
              <a:t> discipline governs the design: the tool does not claim zero false positives, does not fabricate results, and never allows a model to decide a verdict.</a:t>
            </a:r>
          </a:p>
        </p:txBody>
      </p:sp>
      <p:sp>
        <p:nvSpPr>
          <p:cNvPr id="121" name="Google Shape;121;p4"/>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22" name="Google Shape;122;p4"/>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4</a:t>
            </a:fld>
            <a:endParaRPr/>
          </a:p>
        </p:txBody>
      </p:sp>
      <p:sp>
        <p:nvSpPr>
          <p:cNvPr id="123" name="Google Shape;123;p4"/>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DEPARTMENT OF COMPUTER ENGINEERING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Relevance and Importance</a:t>
            </a:r>
            <a:endParaRPr>
              <a:latin typeface="Cambria"/>
              <a:ea typeface="Cambria"/>
              <a:cs typeface="Cambria"/>
              <a:sym typeface="Cambria"/>
            </a:endParaRPr>
          </a:p>
        </p:txBody>
      </p:sp>
      <p:sp>
        <p:nvSpPr>
          <p:cNvPr id="129" name="Google Shape;129;p5"/>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The core contribution is that the platform goes </a:t>
            </a:r>
            <a:r>
              <a:rPr lang="en-IN" sz="1550" b="1">
                <a:solidFill>
                  <a:srgbClr val="000000"/>
                </a:solidFill>
                <a:latin typeface="Cambria"/>
                <a:ea typeface="Cambria"/>
                <a:cs typeface="Cambria"/>
                <a:sym typeface="Cambria"/>
              </a:rPr>
              <a:t>beyond merely detecting a protection</a:t>
            </a:r>
            <a:r>
              <a:rPr lang="en-IN" sz="1550">
                <a:solidFill>
                  <a:srgbClr val="000000"/>
                </a:solidFill>
                <a:latin typeface="Cambria"/>
                <a:ea typeface="Cambria"/>
                <a:cs typeface="Cambria"/>
                <a:sym typeface="Cambria"/>
              </a:rPr>
              <a:t>. It </a:t>
            </a:r>
            <a:r>
              <a:rPr lang="en-IN" sz="1550" b="1">
                <a:solidFill>
                  <a:srgbClr val="000000"/>
                </a:solidFill>
                <a:latin typeface="Cambria"/>
                <a:ea typeface="Cambria"/>
                <a:cs typeface="Cambria"/>
                <a:sym typeface="Cambria"/>
              </a:rPr>
              <a:t>verifies</a:t>
            </a:r>
            <a:r>
              <a:rPr lang="en-IN" sz="1550">
                <a:solidFill>
                  <a:srgbClr val="000000"/>
                </a:solidFill>
                <a:latin typeface="Cambria"/>
                <a:ea typeface="Cambria"/>
                <a:cs typeface="Cambria"/>
                <a:sym typeface="Cambria"/>
              </a:rPr>
              <a:t> that the detected protection can actually be bypassed, using </a:t>
            </a:r>
            <a:r>
              <a:rPr lang="en-IN" sz="1550" b="1">
                <a:solidFill>
                  <a:srgbClr val="000000"/>
                </a:solidFill>
                <a:latin typeface="Cambria"/>
                <a:ea typeface="Cambria"/>
                <a:cs typeface="Cambria"/>
                <a:sym typeface="Cambria"/>
              </a:rPr>
              <a:t>programmatic confirmation</a:t>
            </a:r>
            <a:r>
              <a:rPr lang="en-IN" sz="1550">
                <a:solidFill>
                  <a:srgbClr val="000000"/>
                </a:solidFill>
                <a:latin typeface="Cambria"/>
                <a:ea typeface="Cambria"/>
                <a:cs typeface="Cambria"/>
                <a:sym typeface="Cambria"/>
              </a:rPr>
              <a:t> instead of human observation, and reports a measured confidence alongside it — making results </a:t>
            </a:r>
            <a:r>
              <a:rPr lang="en-IN" sz="1550" b="1">
                <a:solidFill>
                  <a:srgbClr val="000000"/>
                </a:solidFill>
                <a:latin typeface="Cambria"/>
                <a:ea typeface="Cambria"/>
                <a:cs typeface="Cambria"/>
                <a:sym typeface="Cambria"/>
              </a:rPr>
              <a:t>reproducible, auditable and evidence-based</a:t>
            </a:r>
            <a:r>
              <a:rPr lang="en-IN" sz="1550">
                <a:solidFill>
                  <a:srgbClr val="000000"/>
                </a:solidFill>
                <a:latin typeface="Cambria"/>
                <a:ea typeface="Cambria"/>
                <a:cs typeface="Cambria"/>
                <a:sym typeface="Cambria"/>
              </a:rPr>
              <a:t>.</a:t>
            </a:r>
          </a:p>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The work matters directly to </a:t>
            </a:r>
            <a:r>
              <a:rPr lang="en-IN" sz="1550" b="1">
                <a:solidFill>
                  <a:srgbClr val="000000"/>
                </a:solidFill>
                <a:latin typeface="Cambria"/>
                <a:ea typeface="Cambria"/>
                <a:cs typeface="Cambria"/>
                <a:sym typeface="Cambria"/>
              </a:rPr>
              <a:t>mobile security analysts</a:t>
            </a:r>
            <a:r>
              <a:rPr lang="en-IN" sz="1550">
                <a:solidFill>
                  <a:srgbClr val="000000"/>
                </a:solidFill>
                <a:latin typeface="Cambria"/>
                <a:ea typeface="Cambria"/>
                <a:cs typeface="Cambria"/>
                <a:sym typeface="Cambria"/>
              </a:rPr>
              <a:t>, </a:t>
            </a:r>
            <a:r>
              <a:rPr lang="en-IN" sz="1550" b="1">
                <a:solidFill>
                  <a:srgbClr val="000000"/>
                </a:solidFill>
                <a:latin typeface="Cambria"/>
                <a:ea typeface="Cambria"/>
                <a:cs typeface="Cambria"/>
                <a:sym typeface="Cambria"/>
              </a:rPr>
              <a:t>penetration testers</a:t>
            </a:r>
            <a:r>
              <a:rPr lang="en-IN" sz="1550">
                <a:solidFill>
                  <a:srgbClr val="000000"/>
                </a:solidFill>
                <a:latin typeface="Cambria"/>
                <a:ea typeface="Cambria"/>
                <a:cs typeface="Cambria"/>
                <a:sym typeface="Cambria"/>
              </a:rPr>
              <a:t>, </a:t>
            </a:r>
            <a:r>
              <a:rPr lang="en-IN" sz="1550" b="1">
                <a:solidFill>
                  <a:srgbClr val="000000"/>
                </a:solidFill>
                <a:latin typeface="Cambria"/>
                <a:ea typeface="Cambria"/>
                <a:cs typeface="Cambria"/>
                <a:sym typeface="Cambria"/>
              </a:rPr>
              <a:t>researchers</a:t>
            </a:r>
            <a:r>
              <a:rPr lang="en-IN" sz="1550">
                <a:solidFill>
                  <a:srgbClr val="000000"/>
                </a:solidFill>
                <a:latin typeface="Cambria"/>
                <a:ea typeface="Cambria"/>
                <a:cs typeface="Cambria"/>
                <a:sym typeface="Cambria"/>
              </a:rPr>
              <a:t>, </a:t>
            </a:r>
            <a:r>
              <a:rPr lang="en-IN" sz="1550" b="1">
                <a:solidFill>
                  <a:srgbClr val="000000"/>
                </a:solidFill>
                <a:latin typeface="Cambria"/>
                <a:ea typeface="Cambria"/>
                <a:cs typeface="Cambria"/>
                <a:sym typeface="Cambria"/>
              </a:rPr>
              <a:t>students</a:t>
            </a:r>
            <a:r>
              <a:rPr lang="en-IN" sz="1550">
                <a:solidFill>
                  <a:srgbClr val="000000"/>
                </a:solidFill>
                <a:latin typeface="Cambria"/>
                <a:ea typeface="Cambria"/>
                <a:cs typeface="Cambria"/>
                <a:sym typeface="Cambria"/>
              </a:rPr>
              <a:t> and </a:t>
            </a:r>
            <a:r>
              <a:rPr lang="en-IN" sz="1550" b="1">
                <a:solidFill>
                  <a:srgbClr val="000000"/>
                </a:solidFill>
                <a:latin typeface="Cambria"/>
                <a:ea typeface="Cambria"/>
                <a:cs typeface="Cambria"/>
                <a:sym typeface="Cambria"/>
              </a:rPr>
              <a:t>academic evaluators</a:t>
            </a:r>
            <a:r>
              <a:rPr lang="en-IN" sz="1550">
                <a:solidFill>
                  <a:srgbClr val="000000"/>
                </a:solidFill>
                <a:latin typeface="Cambria"/>
                <a:ea typeface="Cambria"/>
                <a:cs typeface="Cambria"/>
                <a:sym typeface="Cambria"/>
              </a:rPr>
              <a:t> who need findings that can be defended, not merely reported.</a:t>
            </a:r>
          </a:p>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It addresses a real-world need: root detection and certificate pinning are implemented widely across </a:t>
            </a:r>
            <a:r>
              <a:rPr lang="en-IN" sz="1550" b="1">
                <a:solidFill>
                  <a:srgbClr val="000000"/>
                </a:solidFill>
                <a:latin typeface="Cambria"/>
                <a:ea typeface="Cambria"/>
                <a:cs typeface="Cambria"/>
                <a:sym typeface="Cambria"/>
              </a:rPr>
              <a:t>banking, payment and fintech applications</a:t>
            </a:r>
            <a:r>
              <a:rPr lang="en-IN" sz="1550">
                <a:solidFill>
                  <a:srgbClr val="000000"/>
                </a:solidFill>
                <a:latin typeface="Cambria"/>
                <a:ea typeface="Cambria"/>
                <a:cs typeface="Cambria"/>
                <a:sym typeface="Cambria"/>
              </a:rPr>
              <a:t>, where a single unverified bypass claim can lead to a wrong risk assessment.</a:t>
            </a:r>
          </a:p>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The methodology is aligned with the </a:t>
            </a:r>
            <a:r>
              <a:rPr lang="en-IN" sz="1550" b="1">
                <a:solidFill>
                  <a:srgbClr val="000000"/>
                </a:solidFill>
                <a:latin typeface="Cambria"/>
                <a:ea typeface="Cambria"/>
                <a:cs typeface="Cambria"/>
                <a:sym typeface="Cambria"/>
              </a:rPr>
              <a:t>OWASP Mobile Application Security Testing Guide (MASTG)</a:t>
            </a:r>
            <a:r>
              <a:rPr lang="en-IN" sz="1550">
                <a:solidFill>
                  <a:srgbClr val="000000"/>
                </a:solidFill>
                <a:latin typeface="Cambria"/>
                <a:ea typeface="Cambria"/>
                <a:cs typeface="Cambria"/>
                <a:sym typeface="Cambria"/>
              </a:rPr>
              <a:t>, following its recommended practices for both static and dynamic analysis.</a:t>
            </a:r>
          </a:p>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The architecture also provides a defensible foundation for later capabilities — </a:t>
            </a:r>
            <a:r>
              <a:rPr lang="en-IN" sz="1550" b="1">
                <a:solidFill>
                  <a:srgbClr val="000000"/>
                </a:solidFill>
                <a:latin typeface="Cambria"/>
                <a:ea typeface="Cambria"/>
                <a:cs typeface="Cambria"/>
                <a:sym typeface="Cambria"/>
              </a:rPr>
              <a:t>knowledge-grounded reporting</a:t>
            </a:r>
            <a:r>
              <a:rPr lang="en-IN" sz="1550">
                <a:solidFill>
                  <a:srgbClr val="000000"/>
                </a:solidFill>
                <a:latin typeface="Cambria"/>
                <a:ea typeface="Cambria"/>
                <a:cs typeface="Cambria"/>
                <a:sym typeface="Cambria"/>
              </a:rPr>
              <a:t>, </a:t>
            </a:r>
            <a:r>
              <a:rPr lang="en-IN" sz="1550" b="1">
                <a:solidFill>
                  <a:srgbClr val="000000"/>
                </a:solidFill>
                <a:latin typeface="Cambria"/>
                <a:ea typeface="Cambria"/>
                <a:cs typeface="Cambria"/>
                <a:sym typeface="Cambria"/>
              </a:rPr>
              <a:t>semantic hypothesis generation</a:t>
            </a:r>
            <a:r>
              <a:rPr lang="en-IN" sz="1550">
                <a:solidFill>
                  <a:srgbClr val="000000"/>
                </a:solidFill>
                <a:latin typeface="Cambria"/>
                <a:ea typeface="Cambria"/>
                <a:cs typeface="Cambria"/>
                <a:sym typeface="Cambria"/>
              </a:rPr>
              <a:t> and </a:t>
            </a:r>
            <a:r>
              <a:rPr lang="en-IN" sz="1550" b="1">
                <a:solidFill>
                  <a:srgbClr val="000000"/>
                </a:solidFill>
                <a:latin typeface="Cambria"/>
                <a:ea typeface="Cambria"/>
                <a:cs typeface="Cambria"/>
                <a:sym typeface="Cambria"/>
              </a:rPr>
              <a:t>human-reviewed bypass synthesis</a:t>
            </a:r>
            <a:r>
              <a:rPr lang="en-IN" sz="1550">
                <a:solidFill>
                  <a:srgbClr val="000000"/>
                </a:solidFill>
                <a:latin typeface="Cambria"/>
                <a:ea typeface="Cambria"/>
                <a:cs typeface="Cambria"/>
                <a:sym typeface="Cambria"/>
              </a:rPr>
              <a:t> — without letting those layers gain authority over a deterministic verdict.</a:t>
            </a:r>
          </a:p>
        </p:txBody>
      </p:sp>
      <p:sp>
        <p:nvSpPr>
          <p:cNvPr id="130" name="Google Shape;130;p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31" name="Google Shape;131;p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5</a:t>
            </a:fld>
            <a:endParaRPr/>
          </a:p>
        </p:txBody>
      </p:sp>
      <p:sp>
        <p:nvSpPr>
          <p:cNvPr id="132" name="Google Shape;132;p5"/>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Literature Review</a:t>
            </a:r>
            <a:endParaRPr>
              <a:latin typeface="Cambria"/>
              <a:ea typeface="Cambria"/>
              <a:cs typeface="Cambria"/>
              <a:sym typeface="Cambria"/>
            </a:endParaRPr>
          </a:p>
        </p:txBody>
      </p:sp>
      <p:sp>
        <p:nvSpPr>
          <p:cNvPr id="138" name="Google Shape;138;p6"/>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39" name="Google Shape;139;p6"/>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6</a:t>
            </a:fld>
            <a:endParaRPr/>
          </a:p>
        </p:txBody>
      </p:sp>
      <p:sp>
        <p:nvSpPr>
          <p:cNvPr id="140" name="Google Shape;140;p6"/>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mbria"/>
              <a:ea typeface="Cambria"/>
              <a:cs typeface="Cambria"/>
              <a:sym typeface="Cambria"/>
            </a:endParaRPr>
          </a:p>
        </p:txBody>
      </p:sp>
      <p:graphicFrame>
        <p:nvGraphicFramePr>
          <p:cNvPr id="141" name="Google Shape;141;p6"/>
          <p:cNvGraphicFramePr/>
          <p:nvPr/>
        </p:nvGraphicFramePr>
        <p:xfrm>
          <a:off x="748925" y="1559000"/>
          <a:ext cx="10287000" cy="4358310"/>
        </p:xfrm>
        <a:graphic>
          <a:graphicData uri="http://schemas.openxmlformats.org/drawingml/2006/table">
            <a:tbl>
              <a:tblPr>
                <a:noFill/>
                <a:tableStyleId>{14AFA2C0-81FA-426D-AC04-C4082A1A4F72}</a:tableStyleId>
              </a:tblPr>
              <a:tblGrid>
                <a:gridCol w="1714500"/>
                <a:gridCol w="1714500"/>
                <a:gridCol w="1714500"/>
                <a:gridCol w="1714500"/>
                <a:gridCol w="1714500"/>
                <a:gridCol w="1714500"/>
              </a:tblGrid>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Sr.No</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Ref.No(Cition)</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Algorithm used </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a:solidFill>
                            <a:schemeClr val="dk1"/>
                          </a:solidFill>
                          <a:latin typeface="Times New Roman"/>
                          <a:ea typeface="Times New Roman"/>
                          <a:cs typeface="Times New Roman"/>
                          <a:sym typeface="Times New Roman"/>
                        </a:rPr>
                        <a:t>Result</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Findings</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[1], [2]</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OWASP MASTG / MASVS manual static and dynamic test cases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OWASP reference apps and CTF targets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Standardised test procedure; no automated verification</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Defines the practice, but leaves execution and proof to the analyst</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2</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DREBIN: static feature extraction with linear SVM classification</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5,560 malware and 1,230 benign apps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94% detection accuracy</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Static features scale well, but yield no runtime proof</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3</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[5]</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TaintDroid: system-level dynamic taint tracking</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Real handset with an instrumented Android runtime</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High-precision taint propagation at runtime</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Runtime instrumentation is reliable when the runtime is controlled</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[6], [7]</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Large-scale analysis of SSL usage in Android applications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13,500+ and 1,000+ store apps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Widespread TLS misconfiguration found</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Shows the scale of the problem, but no bypass validation</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5</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[8]</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SMV-HUNTER: static taint analysis with dynamic confirmation</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Play Store application corpus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MITM vulnerabilities identified across many apps</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Closest prior art; still not a reusable bypass harness</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6</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[9], [10]</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Anti-analysis and anti-emulation evasion study</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Malware samples with anti-VM and anti-debug logic</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Evasion defeats naive sandboxes</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Dynamic findings must be verified, never assumed</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[3]</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Androguard: static dissection and API call graph extraction</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Arbitrary APK input</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Programmatic access to manifest, DEX and resources</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Provides the parsing foundation a signature engine needs</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8</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[16]</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FlowDroid: context-sensitive, lifecycle-aware taint analysis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Android application benchmark suites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Precise flow tracking at a high scalability cost</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Precision costs runtime, motivating weighted signatures</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9</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[11]</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Dynamic code loading analysis in Android applications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Apps using DexClassLoader and reflection</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Unsafe dynamic loading identified</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Explains why static-only detection misses delegate payloads</a:t>
                      </a:r>
                      <a:endParaRPr>
                        <a:latin typeface="Times New Roman"/>
                        <a:ea typeface="Times New Roman"/>
                        <a:cs typeface="Times New Roman"/>
                        <a:sym typeface="Times New Roman"/>
                      </a:endParaRPr>
                    </a:p>
                  </a:txBody>
                  <a:tcPr marL="91425" marR="91425" marT="91425" marB="91425"/>
                </a:tc>
              </a:tr>
              <a:tr h="38100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[12], [13]</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Deep learning vulnerability detection (VulDeePecker, Devign)</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Synthetic and real C/C++ datasets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High recall, weak explainability</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sz="750">
                          <a:latin typeface="Times New Roman"/>
                          <a:ea typeface="Times New Roman"/>
                          <a:cs typeface="Times New Roman"/>
                          <a:sym typeface="Times New Roman"/>
                        </a:rPr>
                        <a:t>Justifies keeping the detector rule-based and explainable</a:t>
                      </a:r>
                      <a:endParaRPr>
                        <a:latin typeface="Times New Roman"/>
                        <a:ea typeface="Times New Roman"/>
                        <a:cs typeface="Times New Roman"/>
                        <a:sym typeface="Times New Roman"/>
                      </a:endParaRPr>
                    </a:p>
                  </a:txBody>
                  <a:tcPr marL="91425" marR="91425" marT="91425" marB="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h7f9a4c8fa777841d_0_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Research Gap</a:t>
            </a:r>
            <a:endParaRPr>
              <a:latin typeface="Cambria"/>
              <a:ea typeface="Cambria"/>
              <a:cs typeface="Cambria"/>
              <a:sym typeface="Cambria"/>
            </a:endParaRPr>
          </a:p>
        </p:txBody>
      </p:sp>
      <p:sp>
        <p:nvSpPr>
          <p:cNvPr id="147" name="Google Shape;147;h7f9a4c8fa777841d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48" name="Google Shape;148;h7f9a4c8fa777841d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7</a:t>
            </a:fld>
            <a:endParaRPr/>
          </a:p>
        </p:txBody>
      </p:sp>
      <p:sp>
        <p:nvSpPr>
          <p:cNvPr id="149" name="Google Shape;149;h7f9a4c8fa777841d_0_15"/>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mbria"/>
              <a:ea typeface="Cambria"/>
              <a:cs typeface="Cambria"/>
              <a:sym typeface="Cambria"/>
            </a:endParaRPr>
          </a:p>
        </p:txBody>
      </p:sp>
      <p:sp>
        <p:nvSpPr>
          <p:cNvPr id="150" name="Google Shape;150;h7f9a4c8fa777841d_0_15"/>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After reviewing the existing literature and tooling, the following gaps were identified.</a:t>
            </a:r>
          </a:p>
          <a:p>
            <a:pPr marL="742950" lvl="1" indent="-285750" algn="l" rtl="0">
              <a:lnSpc>
                <a:spcPct val="100000"/>
              </a:lnSpc>
              <a:spcBef>
                <a:spcPts val="0"/>
              </a:spcBef>
              <a:spcAft>
                <a:spcPts val="0"/>
              </a:spcAft>
              <a:buFont typeface="Cambria"/>
              <a:buChar char="–"/>
            </a:pPr>
            <a:r>
              <a:rPr lang="en-IN" sz="1550" b="1">
                <a:solidFill>
                  <a:srgbClr val="000000"/>
                </a:solidFill>
                <a:latin typeface="Cambria"/>
                <a:ea typeface="Cambria"/>
                <a:cs typeface="Cambria"/>
                <a:sym typeface="Cambria"/>
              </a:rPr>
              <a:t>Detection without verification</a:t>
            </a:r>
            <a:r>
              <a:rPr lang="en-IN" sz="1550">
                <a:solidFill>
                  <a:srgbClr val="000000"/>
                </a:solidFill>
                <a:latin typeface="Cambria"/>
                <a:ea typeface="Cambria"/>
                <a:cs typeface="Cambria"/>
                <a:sym typeface="Cambria"/>
              </a:rPr>
              <a:t> — MobSF, QARK and comparable frameworks report the presence of root detection or pinning, but never execute the corresponding bypass to prove the protection is effective.</a:t>
            </a:r>
          </a:p>
          <a:p>
            <a:pPr marL="742950" lvl="1" indent="-285750" algn="l" rtl="0">
              <a:lnSpc>
                <a:spcPct val="100000"/>
              </a:lnSpc>
              <a:spcBef>
                <a:spcPts val="0"/>
              </a:spcBef>
              <a:spcAft>
                <a:spcPts val="0"/>
              </a:spcAft>
              <a:buFont typeface="Cambria"/>
              <a:buChar char="–"/>
            </a:pPr>
            <a:r>
              <a:rPr lang="en-IN" sz="1550" b="1">
                <a:solidFill>
                  <a:srgbClr val="000000"/>
                </a:solidFill>
                <a:latin typeface="Cambria"/>
                <a:ea typeface="Cambria"/>
                <a:cs typeface="Cambria"/>
                <a:sym typeface="Cambria"/>
              </a:rPr>
              <a:t>No accuracy measurement</a:t>
            </a:r>
            <a:r>
              <a:rPr lang="en-IN" sz="1550">
                <a:solidFill>
                  <a:srgbClr val="000000"/>
                </a:solidFill>
                <a:latin typeface="Cambria"/>
                <a:ea typeface="Cambria"/>
                <a:cs typeface="Cambria"/>
                <a:sym typeface="Cambria"/>
              </a:rPr>
              <a:t> — existing tools publish no precision, recall or confidence-calibration data, so their verdicts cannot be quantified or compared.</a:t>
            </a:r>
          </a:p>
          <a:p>
            <a:pPr marL="742950" lvl="1" indent="-285750" algn="l" rtl="0">
              <a:lnSpc>
                <a:spcPct val="100000"/>
              </a:lnSpc>
              <a:spcBef>
                <a:spcPts val="0"/>
              </a:spcBef>
              <a:spcAft>
                <a:spcPts val="0"/>
              </a:spcAft>
              <a:buFont typeface="Cambria"/>
              <a:buChar char="–"/>
            </a:pPr>
            <a:r>
              <a:rPr lang="en-IN" sz="1550" b="1">
                <a:solidFill>
                  <a:srgbClr val="000000"/>
                </a:solidFill>
                <a:latin typeface="Cambria"/>
                <a:ea typeface="Cambria"/>
                <a:cs typeface="Cambria"/>
                <a:sym typeface="Cambria"/>
              </a:rPr>
              <a:t>Manual and non-reproducible</a:t>
            </a:r>
            <a:r>
              <a:rPr lang="en-IN" sz="1550">
                <a:solidFill>
                  <a:srgbClr val="000000"/>
                </a:solidFill>
                <a:latin typeface="Cambria"/>
                <a:ea typeface="Cambria"/>
                <a:cs typeface="Cambria"/>
                <a:sym typeface="Cambria"/>
              </a:rPr>
              <a:t> — bypass work depends on an analyst hand-writing hooks for each application, making results inconsistent between analysts and across runs.</a:t>
            </a:r>
          </a:p>
          <a:p>
            <a:pPr marL="742950" lvl="1" indent="-285750" algn="l" rtl="0">
              <a:lnSpc>
                <a:spcPct val="100000"/>
              </a:lnSpc>
              <a:spcBef>
                <a:spcPts val="0"/>
              </a:spcBef>
              <a:spcAft>
                <a:spcPts val="0"/>
              </a:spcAft>
              <a:buFont typeface="Cambria"/>
              <a:buChar char="–"/>
            </a:pPr>
            <a:r>
              <a:rPr lang="en-IN" sz="1550" b="1">
                <a:solidFill>
                  <a:srgbClr val="000000"/>
                </a:solidFill>
                <a:latin typeface="Cambria"/>
                <a:ea typeface="Cambria"/>
                <a:cs typeface="Cambria"/>
                <a:sym typeface="Cambria"/>
              </a:rPr>
              <a:t>No separation of evidence types</a:t>
            </a:r>
            <a:r>
              <a:rPr lang="en-IN" sz="1550">
                <a:solidFill>
                  <a:srgbClr val="000000"/>
                </a:solidFill>
                <a:latin typeface="Cambria"/>
                <a:ea typeface="Cambria"/>
                <a:cs typeface="Cambria"/>
                <a:sym typeface="Cambria"/>
              </a:rPr>
              <a:t> — a bundled library's own code is regularly read as the application's protection, because a pattern match and an observed behaviour are reported as the same kind of fact.</a:t>
            </a:r>
          </a:p>
          <a:p>
            <a:pPr marL="742950" lvl="1" indent="-285750" algn="l" rtl="0">
              <a:lnSpc>
                <a:spcPct val="100000"/>
              </a:lnSpc>
              <a:spcBef>
                <a:spcPts val="0"/>
              </a:spcBef>
              <a:spcAft>
                <a:spcPts val="0"/>
              </a:spcAft>
              <a:buFont typeface="Cambria"/>
              <a:buChar char="–"/>
            </a:pPr>
            <a:r>
              <a:rPr lang="en-IN" sz="1550" b="1">
                <a:solidFill>
                  <a:srgbClr val="000000"/>
                </a:solidFill>
                <a:latin typeface="Cambria"/>
                <a:ea typeface="Cambria"/>
                <a:cs typeface="Cambria"/>
                <a:sym typeface="Cambria"/>
              </a:rPr>
              <a:t>Unbounded negatives</a:t>
            </a:r>
            <a:r>
              <a:rPr lang="en-IN" sz="1550">
                <a:solidFill>
                  <a:srgbClr val="000000"/>
                </a:solidFill>
                <a:latin typeface="Cambria"/>
                <a:ea typeface="Cambria"/>
                <a:cs typeface="Cambria"/>
                <a:sym typeface="Cambria"/>
              </a:rPr>
              <a:t> — an absent detection is reported as a confident negative even when the surface that could hide the protection was never fully scanned.</a:t>
            </a:r>
          </a:p>
          <a:p>
            <a:pPr marL="742950" lvl="1" indent="-285750" algn="l" rtl="0">
              <a:lnSpc>
                <a:spcPct val="100000"/>
              </a:lnSpc>
              <a:spcBef>
                <a:spcPts val="0"/>
              </a:spcBef>
              <a:spcAft>
                <a:spcPts val="0"/>
              </a:spcAft>
              <a:buFont typeface="Cambria"/>
              <a:buChar char="–"/>
            </a:pPr>
            <a:r>
              <a:rPr lang="en-IN" sz="1550" b="1">
                <a:solidFill>
                  <a:srgbClr val="000000"/>
                </a:solidFill>
                <a:latin typeface="Cambria"/>
                <a:ea typeface="Cambria"/>
                <a:cs typeface="Cambria"/>
                <a:sym typeface="Cambria"/>
              </a:rPr>
              <a:t>No accountable audit trail</a:t>
            </a:r>
            <a:r>
              <a:rPr lang="en-IN" sz="1550">
                <a:solidFill>
                  <a:srgbClr val="000000"/>
                </a:solidFill>
                <a:latin typeface="Cambria"/>
                <a:ea typeface="Cambria"/>
                <a:cs typeface="Cambria"/>
                <a:sym typeface="Cambria"/>
              </a:rPr>
              <a:t> — dual-use analysis tools generally leave no immutable record of who ran what, on which build, and under what authorization.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Objectives</a:t>
            </a:r>
            <a:endParaRPr>
              <a:latin typeface="Cambria"/>
              <a:ea typeface="Cambria"/>
              <a:cs typeface="Cambria"/>
              <a:sym typeface="Cambria"/>
            </a:endParaRPr>
          </a:p>
        </p:txBody>
      </p:sp>
      <p:sp>
        <p:nvSpPr>
          <p:cNvPr id="156" name="Google Shape;156;p7"/>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To design and implement a deterministic analysis platform that determines, for any APK, whether root detection, SSL/TLS pinning, both or neither are present, and to verify any claimed bypass empirically.</a:t>
            </a:r>
          </a:p>
          <a:p>
            <a:pPr marL="742950" lvl="1" indent="-28575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Build a YAML-driven </a:t>
            </a:r>
            <a:r>
              <a:rPr lang="en-IN" sz="1550" b="1">
                <a:solidFill>
                  <a:srgbClr val="000000"/>
                </a:solidFill>
                <a:latin typeface="Cambria"/>
                <a:ea typeface="Cambria"/>
                <a:cs typeface="Cambria"/>
                <a:sym typeface="Cambria"/>
              </a:rPr>
              <a:t>signature engine</a:t>
            </a:r>
            <a:r>
              <a:rPr lang="en-IN" sz="1550">
                <a:solidFill>
                  <a:srgbClr val="000000"/>
                </a:solidFill>
                <a:latin typeface="Cambria"/>
                <a:ea typeface="Cambria"/>
                <a:cs typeface="Cambria"/>
                <a:sym typeface="Cambria"/>
              </a:rPr>
              <a:t> covering native, Java bytecode, manifest, resource and JavaScript surfaces, with file-and-line evidence for every match.</a:t>
            </a:r>
          </a:p>
          <a:p>
            <a:pPr marL="742950" lvl="1" indent="-28575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Implement a </a:t>
            </a:r>
            <a:r>
              <a:rPr lang="en-IN" sz="1550" b="1">
                <a:solidFill>
                  <a:srgbClr val="000000"/>
                </a:solidFill>
                <a:latin typeface="Cambria"/>
                <a:ea typeface="Cambria"/>
                <a:cs typeface="Cambria"/>
                <a:sym typeface="Cambria"/>
              </a:rPr>
              <a:t>decision engine</a:t>
            </a:r>
            <a:r>
              <a:rPr lang="en-IN" sz="1550">
                <a:solidFill>
                  <a:srgbClr val="000000"/>
                </a:solidFill>
                <a:latin typeface="Cambria"/>
                <a:ea typeface="Cambria"/>
                <a:cs typeface="Cambria"/>
                <a:sym typeface="Cambria"/>
              </a:rPr>
              <a:t> that classifies each APK as ROOT_ONLY, SSL_ONLY, BOTH or NEITHER against a configurable weighted-confidence threshold.</a:t>
            </a:r>
          </a:p>
          <a:p>
            <a:pPr marL="742950" lvl="1" indent="-28575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Automate a </a:t>
            </a:r>
            <a:r>
              <a:rPr lang="en-IN" sz="1550" b="1">
                <a:solidFill>
                  <a:srgbClr val="000000"/>
                </a:solidFill>
                <a:latin typeface="Cambria"/>
                <a:ea typeface="Cambria"/>
                <a:cs typeface="Cambria"/>
                <a:sym typeface="Cambria"/>
              </a:rPr>
              <a:t>targeted dynamic bypass</a:t>
            </a:r>
            <a:r>
              <a:rPr lang="en-IN" sz="1550">
                <a:solidFill>
                  <a:srgbClr val="000000"/>
                </a:solidFill>
                <a:latin typeface="Cambria"/>
                <a:ea typeface="Cambria"/>
                <a:cs typeface="Cambria"/>
                <a:sym typeface="Cambria"/>
              </a:rPr>
              <a:t> using ADB and Frida, executed only for the categories actually detected.</a:t>
            </a:r>
          </a:p>
          <a:p>
            <a:pPr marL="742950" lvl="1" indent="-28575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Provide a </a:t>
            </a:r>
            <a:r>
              <a:rPr lang="en-IN" sz="1550" b="1">
                <a:solidFill>
                  <a:srgbClr val="000000"/>
                </a:solidFill>
                <a:latin typeface="Cambria"/>
                <a:ea typeface="Cambria"/>
                <a:cs typeface="Cambria"/>
                <a:sym typeface="Cambria"/>
              </a:rPr>
              <a:t>programmatic success check</a:t>
            </a:r>
            <a:r>
              <a:rPr lang="en-IN" sz="1550">
                <a:solidFill>
                  <a:srgbClr val="000000"/>
                </a:solidFill>
                <a:latin typeface="Cambria"/>
                <a:ea typeface="Cambria"/>
                <a:cs typeface="Cambria"/>
                <a:sym typeface="Cambria"/>
              </a:rPr>
              <a:t> per target, so a bypass is confirmed by observation rather than by inspection.</a:t>
            </a:r>
          </a:p>
          <a:p>
            <a:pPr marL="742950" lvl="1" indent="-28575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Establish a </a:t>
            </a:r>
            <a:r>
              <a:rPr lang="en-IN" sz="1550" b="1">
                <a:solidFill>
                  <a:srgbClr val="000000"/>
                </a:solidFill>
                <a:latin typeface="Cambria"/>
                <a:ea typeface="Cambria"/>
                <a:cs typeface="Cambria"/>
                <a:sym typeface="Cambria"/>
              </a:rPr>
              <a:t>calibration harness</a:t>
            </a:r>
            <a:r>
              <a:rPr lang="en-IN" sz="1550">
                <a:solidFill>
                  <a:srgbClr val="000000"/>
                </a:solidFill>
                <a:latin typeface="Cambria"/>
                <a:ea typeface="Cambria"/>
                <a:cs typeface="Cambria"/>
                <a:sym typeface="Cambria"/>
              </a:rPr>
              <a:t> measuring precision, recall, F1 and a confidence-calibration curve against independently sourced ground truth.</a:t>
            </a:r>
          </a:p>
          <a:p>
            <a:pPr marL="742950" lvl="1" indent="-28575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Enforce </a:t>
            </a:r>
            <a:r>
              <a:rPr lang="en-IN" sz="1550" b="1">
                <a:solidFill>
                  <a:srgbClr val="000000"/>
                </a:solidFill>
                <a:latin typeface="Cambria"/>
                <a:ea typeface="Cambria"/>
                <a:cs typeface="Cambria"/>
                <a:sym typeface="Cambria"/>
              </a:rPr>
              <a:t>authorization and an immutable audit log</a:t>
            </a:r>
            <a:r>
              <a:rPr lang="en-IN" sz="1550">
                <a:solidFill>
                  <a:srgbClr val="000000"/>
                </a:solidFill>
                <a:latin typeface="Cambria"/>
                <a:ea typeface="Cambria"/>
                <a:cs typeface="Cambria"/>
                <a:sym typeface="Cambria"/>
              </a:rPr>
              <a:t> for every run, binding each result to an operator, a justification and the exact code revision.</a:t>
            </a:r>
          </a:p>
          <a:p>
            <a:pPr marL="342900" lvl="0" indent="-342900" algn="l" rtl="0">
              <a:lnSpc>
                <a:spcPct val="100000"/>
              </a:lnSpc>
              <a:spcBef>
                <a:spcPts val="0"/>
              </a:spcBef>
              <a:spcAft>
                <a:spcPts val="0"/>
              </a:spcAft>
              <a:buFont typeface="Cambria"/>
              <a:buChar char="•"/>
            </a:pPr>
            <a:r>
              <a:rPr lang="en-IN" sz="1550">
                <a:solidFill>
                  <a:srgbClr val="000000"/>
                </a:solidFill>
                <a:latin typeface="Cambria"/>
                <a:ea typeface="Cambria"/>
                <a:cs typeface="Cambria"/>
                <a:sym typeface="Cambria"/>
              </a:rPr>
              <a:t>Each objective is delivered as a working, non-placeholder, end-to-end capability before the next one begins.</a:t>
            </a:r>
          </a:p>
        </p:txBody>
      </p:sp>
      <p:sp>
        <p:nvSpPr>
          <p:cNvPr id="157" name="Google Shape;157;p7"/>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58" name="Google Shape;158;p7"/>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8</a:t>
            </a:fld>
            <a:endParaRPr/>
          </a:p>
        </p:txBody>
      </p:sp>
      <p:sp>
        <p:nvSpPr>
          <p:cNvPr id="159" name="Google Shape;159;p7"/>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Required Dataset,Tools and Technology</a:t>
            </a:r>
            <a:endParaRPr>
              <a:latin typeface="Cambria"/>
              <a:ea typeface="Cambria"/>
              <a:cs typeface="Cambria"/>
              <a:sym typeface="Cambria"/>
            </a:endParaRPr>
          </a:p>
        </p:txBody>
      </p:sp>
      <p:sp>
        <p:nvSpPr>
          <p:cNvPr id="165" name="Google Shape;165;p8"/>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Programming languages: </a:t>
            </a:r>
            <a:r>
              <a:rPr lang="en-IN" sz="1500" b="1">
                <a:solidFill>
                  <a:srgbClr val="000000"/>
                </a:solidFill>
                <a:latin typeface="Cambria"/>
                <a:ea typeface="Cambria"/>
                <a:cs typeface="Cambria"/>
                <a:sym typeface="Cambria"/>
              </a:rPr>
              <a:t>Python 3.11+</a:t>
            </a:r>
            <a:r>
              <a:rPr lang="en-IN" sz="1500">
                <a:solidFill>
                  <a:srgbClr val="000000"/>
                </a:solidFill>
                <a:latin typeface="Cambria"/>
                <a:ea typeface="Cambria"/>
                <a:cs typeface="Cambria"/>
                <a:sym typeface="Cambria"/>
              </a:rPr>
              <a:t> (core engine), </a:t>
            </a:r>
            <a:r>
              <a:rPr lang="en-IN" sz="1500" b="1">
                <a:solidFill>
                  <a:srgbClr val="000000"/>
                </a:solidFill>
                <a:latin typeface="Cambria"/>
                <a:ea typeface="Cambria"/>
                <a:cs typeface="Cambria"/>
                <a:sym typeface="Cambria"/>
              </a:rPr>
              <a:t>JavaScript</a:t>
            </a:r>
            <a:r>
              <a:rPr lang="en-IN" sz="1500">
                <a:solidFill>
                  <a:srgbClr val="000000"/>
                </a:solidFill>
                <a:latin typeface="Cambria"/>
                <a:ea typeface="Cambria"/>
                <a:cs typeface="Cambria"/>
                <a:sym typeface="Cambria"/>
              </a:rPr>
              <a:t> (Frida instrumentation scripts), </a:t>
            </a:r>
            <a:r>
              <a:rPr lang="en-IN" sz="1500" b="1">
                <a:solidFill>
                  <a:srgbClr val="000000"/>
                </a:solidFill>
                <a:latin typeface="Cambria"/>
                <a:ea typeface="Cambria"/>
                <a:cs typeface="Cambria"/>
                <a:sym typeface="Cambria"/>
              </a:rPr>
              <a:t>YAML</a:t>
            </a:r>
            <a:r>
              <a:rPr lang="en-IN" sz="1500">
                <a:solidFill>
                  <a:srgbClr val="000000"/>
                </a:solidFill>
                <a:latin typeface="Cambria"/>
                <a:ea typeface="Cambria"/>
                <a:cs typeface="Cambria"/>
                <a:sym typeface="Cambria"/>
              </a:rPr>
              <a:t> (declarative signature corpora), </a:t>
            </a:r>
            <a:r>
              <a:rPr lang="en-IN" sz="1500" b="1">
                <a:solidFill>
                  <a:srgbClr val="000000"/>
                </a:solidFill>
                <a:latin typeface="Cambria"/>
                <a:ea typeface="Cambria"/>
                <a:cs typeface="Cambria"/>
                <a:sym typeface="Cambria"/>
              </a:rPr>
              <a:t>SQL</a:t>
            </a:r>
            <a:r>
              <a:rPr lang="en-IN" sz="1500">
                <a:solidFill>
                  <a:srgbClr val="000000"/>
                </a:solidFill>
                <a:latin typeface="Cambria"/>
                <a:ea typeface="Cambria"/>
                <a:cs typeface="Cambria"/>
                <a:sym typeface="Cambria"/>
              </a:rPr>
              <a:t> (result storage).</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Analysis and instrumentation toolchain:</a:t>
            </a:r>
          </a:p>
          <a:p>
            <a:pPr marL="742950" lvl="1" indent="-285750" algn="l" rtl="0">
              <a:lnSpc>
                <a:spcPct val="100000"/>
              </a:lnSpc>
              <a:spcBef>
                <a:spcPts val="0"/>
              </a:spcBef>
              <a:spcAft>
                <a:spcPts val="0"/>
              </a:spcAft>
              <a:buFont typeface="Cambria"/>
              <a:buChar char="–"/>
            </a:pPr>
            <a:r>
              <a:rPr lang="en-IN" sz="1500" b="1">
                <a:solidFill>
                  <a:srgbClr val="000000"/>
                </a:solidFill>
                <a:latin typeface="Cambria"/>
                <a:ea typeface="Cambria"/>
                <a:cs typeface="Cambria"/>
                <a:sym typeface="Cambria"/>
              </a:rPr>
              <a:t>jadx 1.5.1</a:t>
            </a:r>
            <a:r>
              <a:rPr lang="en-IN" sz="1500">
                <a:solidFill>
                  <a:srgbClr val="000000"/>
                </a:solidFill>
                <a:latin typeface="Cambria"/>
                <a:ea typeface="Cambria"/>
                <a:cs typeface="Cambria"/>
                <a:sym typeface="Cambria"/>
              </a:rPr>
              <a:t> and </a:t>
            </a:r>
            <a:r>
              <a:rPr lang="en-IN" sz="1500" b="1">
                <a:solidFill>
                  <a:srgbClr val="000000"/>
                </a:solidFill>
                <a:latin typeface="Cambria"/>
                <a:ea typeface="Cambria"/>
                <a:cs typeface="Cambria"/>
                <a:sym typeface="Cambria"/>
              </a:rPr>
              <a:t>apktool 3.0.1</a:t>
            </a:r>
            <a:r>
              <a:rPr lang="en-IN" sz="1500">
                <a:solidFill>
                  <a:srgbClr val="000000"/>
                </a:solidFill>
                <a:latin typeface="Cambria"/>
                <a:ea typeface="Cambria"/>
                <a:cs typeface="Cambria"/>
                <a:sym typeface="Cambria"/>
              </a:rPr>
              <a:t> to decompile APKs into Java source and smali.</a:t>
            </a:r>
          </a:p>
          <a:p>
            <a:pPr marL="742950" lvl="1" indent="-285750" algn="l" rtl="0">
              <a:lnSpc>
                <a:spcPct val="100000"/>
              </a:lnSpc>
              <a:spcBef>
                <a:spcPts val="0"/>
              </a:spcBef>
              <a:spcAft>
                <a:spcPts val="0"/>
              </a:spcAft>
              <a:buFont typeface="Cambria"/>
              <a:buChar char="–"/>
            </a:pPr>
            <a:r>
              <a:rPr lang="en-IN" sz="1500" b="1">
                <a:solidFill>
                  <a:srgbClr val="000000"/>
                </a:solidFill>
                <a:latin typeface="Cambria"/>
                <a:ea typeface="Cambria"/>
                <a:cs typeface="Cambria"/>
                <a:sym typeface="Cambria"/>
              </a:rPr>
              <a:t>aapt2</a:t>
            </a:r>
            <a:r>
              <a:rPr lang="en-IN" sz="1500">
                <a:solidFill>
                  <a:srgbClr val="000000"/>
                </a:solidFill>
                <a:latin typeface="Cambria"/>
                <a:ea typeface="Cambria"/>
                <a:cs typeface="Cambria"/>
                <a:sym typeface="Cambria"/>
              </a:rPr>
              <a:t> and </a:t>
            </a:r>
            <a:r>
              <a:rPr lang="en-IN" sz="1500" b="1">
                <a:solidFill>
                  <a:srgbClr val="000000"/>
                </a:solidFill>
                <a:latin typeface="Cambria"/>
                <a:ea typeface="Cambria"/>
                <a:cs typeface="Cambria"/>
                <a:sym typeface="Cambria"/>
              </a:rPr>
              <a:t>apksigner</a:t>
            </a:r>
            <a:r>
              <a:rPr lang="en-IN" sz="1500">
                <a:solidFill>
                  <a:srgbClr val="000000"/>
                </a:solidFill>
                <a:latin typeface="Cambria"/>
                <a:ea typeface="Cambria"/>
                <a:cs typeface="Cambria"/>
                <a:sym typeface="Cambria"/>
              </a:rPr>
              <a:t> for manifest extraction and signing verification.</a:t>
            </a:r>
          </a:p>
          <a:p>
            <a:pPr marL="742950" lvl="1" indent="-285750" algn="l" rtl="0">
              <a:lnSpc>
                <a:spcPct val="100000"/>
              </a:lnSpc>
              <a:spcBef>
                <a:spcPts val="0"/>
              </a:spcBef>
              <a:spcAft>
                <a:spcPts val="0"/>
              </a:spcAft>
              <a:buFont typeface="Cambria"/>
              <a:buChar char="–"/>
            </a:pPr>
            <a:r>
              <a:rPr lang="en-IN" sz="1500" b="1">
                <a:solidFill>
                  <a:srgbClr val="000000"/>
                </a:solidFill>
                <a:latin typeface="Cambria"/>
                <a:ea typeface="Cambria"/>
                <a:cs typeface="Cambria"/>
                <a:sym typeface="Cambria"/>
              </a:rPr>
              <a:t>Frida 16.7.19</a:t>
            </a:r>
            <a:r>
              <a:rPr lang="en-IN" sz="1500">
                <a:solidFill>
                  <a:srgbClr val="000000"/>
                </a:solidFill>
                <a:latin typeface="Cambria"/>
                <a:ea typeface="Cambria"/>
                <a:cs typeface="Cambria"/>
                <a:sym typeface="Cambria"/>
              </a:rPr>
              <a:t> server and client with </a:t>
            </a:r>
            <a:r>
              <a:rPr lang="en-IN" sz="1500" b="1">
                <a:solidFill>
                  <a:srgbClr val="000000"/>
                </a:solidFill>
                <a:latin typeface="Cambria"/>
                <a:ea typeface="Cambria"/>
                <a:cs typeface="Cambria"/>
                <a:sym typeface="Cambria"/>
              </a:rPr>
              <a:t>objection</a:t>
            </a:r>
            <a:r>
              <a:rPr lang="en-IN" sz="1500">
                <a:solidFill>
                  <a:srgbClr val="000000"/>
                </a:solidFill>
                <a:latin typeface="Cambria"/>
                <a:ea typeface="Cambria"/>
                <a:cs typeface="Cambria"/>
                <a:sym typeface="Cambria"/>
              </a:rPr>
              <a:t> for runtime hooking; </a:t>
            </a:r>
            <a:r>
              <a:rPr lang="en-IN" sz="1500" b="1">
                <a:solidFill>
                  <a:srgbClr val="000000"/>
                </a:solidFill>
                <a:latin typeface="Cambria"/>
                <a:ea typeface="Cambria"/>
                <a:cs typeface="Cambria"/>
                <a:sym typeface="Cambria"/>
              </a:rPr>
              <a:t>ADB</a:t>
            </a:r>
            <a:r>
              <a:rPr lang="en-IN" sz="1500">
                <a:solidFill>
                  <a:srgbClr val="000000"/>
                </a:solidFill>
                <a:latin typeface="Cambria"/>
                <a:ea typeface="Cambria"/>
                <a:cs typeface="Cambria"/>
                <a:sym typeface="Cambria"/>
              </a:rPr>
              <a:t> for device control.</a:t>
            </a:r>
          </a:p>
          <a:p>
            <a:pPr marL="742950" lvl="1" indent="-285750" algn="l" rtl="0">
              <a:lnSpc>
                <a:spcPct val="100000"/>
              </a:lnSpc>
              <a:spcBef>
                <a:spcPts val="0"/>
              </a:spcBef>
              <a:spcAft>
                <a:spcPts val="0"/>
              </a:spcAft>
              <a:buFont typeface="Cambria"/>
              <a:buChar char="–"/>
            </a:pPr>
            <a:r>
              <a:rPr lang="en-IN" sz="1500" b="1">
                <a:solidFill>
                  <a:srgbClr val="000000"/>
                </a:solidFill>
                <a:latin typeface="Cambria"/>
                <a:ea typeface="Cambria"/>
                <a:cs typeface="Cambria"/>
                <a:sym typeface="Cambria"/>
              </a:rPr>
              <a:t>mitmproxy 8.1.1</a:t>
            </a:r>
            <a:r>
              <a:rPr lang="en-IN" sz="1500">
                <a:solidFill>
                  <a:srgbClr val="000000"/>
                </a:solidFill>
                <a:latin typeface="Cambria"/>
                <a:ea typeface="Cambria"/>
                <a:cs typeface="Cambria"/>
                <a:sym typeface="Cambria"/>
              </a:rPr>
              <a:t> for optional live traffic capture, and </a:t>
            </a:r>
            <a:r>
              <a:rPr lang="en-IN" sz="1500" b="1">
                <a:solidFill>
                  <a:srgbClr val="000000"/>
                </a:solidFill>
                <a:latin typeface="Cambria"/>
                <a:ea typeface="Cambria"/>
                <a:cs typeface="Cambria"/>
                <a:sym typeface="Cambria"/>
              </a:rPr>
              <a:t>Ghidra</a:t>
            </a:r>
            <a:r>
              <a:rPr lang="en-IN" sz="1500">
                <a:solidFill>
                  <a:srgbClr val="000000"/>
                </a:solidFill>
                <a:latin typeface="Cambria"/>
                <a:ea typeface="Cambria"/>
                <a:cs typeface="Cambria"/>
                <a:sym typeface="Cambria"/>
              </a:rPr>
              <a:t> with </a:t>
            </a:r>
            <a:r>
              <a:rPr lang="en-IN" sz="1500" b="1">
                <a:solidFill>
                  <a:srgbClr val="000000"/>
                </a:solidFill>
                <a:latin typeface="Cambria"/>
                <a:ea typeface="Cambria"/>
                <a:cs typeface="Cambria"/>
                <a:sym typeface="Cambria"/>
              </a:rPr>
              <a:t>capstone</a:t>
            </a:r>
            <a:r>
              <a:rPr lang="en-IN" sz="1500">
                <a:solidFill>
                  <a:srgbClr val="000000"/>
                </a:solidFill>
                <a:latin typeface="Cambria"/>
                <a:ea typeface="Cambria"/>
                <a:cs typeface="Cambria"/>
                <a:sym typeface="Cambria"/>
              </a:rPr>
              <a:t> and </a:t>
            </a:r>
            <a:r>
              <a:rPr lang="en-IN" sz="1500" b="1">
                <a:solidFill>
                  <a:srgbClr val="000000"/>
                </a:solidFill>
                <a:latin typeface="Cambria"/>
                <a:ea typeface="Cambria"/>
                <a:cs typeface="Cambria"/>
                <a:sym typeface="Cambria"/>
              </a:rPr>
              <a:t>pyelftools</a:t>
            </a:r>
            <a:r>
              <a:rPr lang="en-IN" sz="1500">
                <a:solidFill>
                  <a:srgbClr val="000000"/>
                </a:solidFill>
                <a:latin typeface="Cambria"/>
                <a:ea typeface="Cambria"/>
                <a:cs typeface="Cambria"/>
                <a:sym typeface="Cambria"/>
              </a:rPr>
              <a:t> for native library analysis.</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Libraries: </a:t>
            </a:r>
            <a:r>
              <a:rPr lang="en-IN" sz="1500" b="1">
                <a:solidFill>
                  <a:srgbClr val="000000"/>
                </a:solidFill>
                <a:latin typeface="Cambria"/>
                <a:ea typeface="Cambria"/>
                <a:cs typeface="Cambria"/>
                <a:sym typeface="Cambria"/>
              </a:rPr>
              <a:t>Typer</a:t>
            </a:r>
            <a:r>
              <a:rPr lang="en-IN" sz="1500">
                <a:solidFill>
                  <a:srgbClr val="000000"/>
                </a:solidFill>
                <a:latin typeface="Cambria"/>
                <a:ea typeface="Cambria"/>
                <a:cs typeface="Cambria"/>
                <a:sym typeface="Cambria"/>
              </a:rPr>
              <a:t> and </a:t>
            </a:r>
            <a:r>
              <a:rPr lang="en-IN" sz="1500" b="1">
                <a:solidFill>
                  <a:srgbClr val="000000"/>
                </a:solidFill>
                <a:latin typeface="Cambria"/>
                <a:ea typeface="Cambria"/>
                <a:cs typeface="Cambria"/>
                <a:sym typeface="Cambria"/>
              </a:rPr>
              <a:t>Rich</a:t>
            </a:r>
            <a:r>
              <a:rPr lang="en-IN" sz="1500">
                <a:solidFill>
                  <a:srgbClr val="000000"/>
                </a:solidFill>
                <a:latin typeface="Cambria"/>
                <a:ea typeface="Cambria"/>
                <a:cs typeface="Cambria"/>
                <a:sym typeface="Cambria"/>
              </a:rPr>
              <a:t> (CLI and console), </a:t>
            </a:r>
            <a:r>
              <a:rPr lang="en-IN" sz="1500" b="1">
                <a:solidFill>
                  <a:srgbClr val="000000"/>
                </a:solidFill>
                <a:latin typeface="Cambria"/>
                <a:ea typeface="Cambria"/>
                <a:cs typeface="Cambria"/>
                <a:sym typeface="Cambria"/>
              </a:rPr>
              <a:t>Jinja2</a:t>
            </a:r>
            <a:r>
              <a:rPr lang="en-IN" sz="1500">
                <a:solidFill>
                  <a:srgbClr val="000000"/>
                </a:solidFill>
                <a:latin typeface="Cambria"/>
                <a:ea typeface="Cambria"/>
                <a:cs typeface="Cambria"/>
                <a:sym typeface="Cambria"/>
              </a:rPr>
              <a:t> (report rendering), </a:t>
            </a:r>
            <a:r>
              <a:rPr lang="en-IN" sz="1500" b="1">
                <a:solidFill>
                  <a:srgbClr val="000000"/>
                </a:solidFill>
                <a:latin typeface="Cambria"/>
                <a:ea typeface="Cambria"/>
                <a:cs typeface="Cambria"/>
                <a:sym typeface="Cambria"/>
              </a:rPr>
              <a:t>SQLAlchemy</a:t>
            </a:r>
            <a:r>
              <a:rPr lang="en-IN" sz="1500">
                <a:solidFill>
                  <a:srgbClr val="000000"/>
                </a:solidFill>
                <a:latin typeface="Cambria"/>
                <a:ea typeface="Cambria"/>
                <a:cs typeface="Cambria"/>
                <a:sym typeface="Cambria"/>
              </a:rPr>
              <a:t> with </a:t>
            </a:r>
            <a:r>
              <a:rPr lang="en-IN" sz="1500" b="1">
                <a:solidFill>
                  <a:srgbClr val="000000"/>
                </a:solidFill>
                <a:latin typeface="Cambria"/>
                <a:ea typeface="Cambria"/>
                <a:cs typeface="Cambria"/>
                <a:sym typeface="Cambria"/>
              </a:rPr>
              <a:t>SQLite</a:t>
            </a:r>
            <a:r>
              <a:rPr lang="en-IN" sz="1500">
                <a:solidFill>
                  <a:srgbClr val="000000"/>
                </a:solidFill>
                <a:latin typeface="Cambria"/>
                <a:ea typeface="Cambria"/>
                <a:cs typeface="Cambria"/>
                <a:sym typeface="Cambria"/>
              </a:rPr>
              <a:t> (storage), </a:t>
            </a:r>
            <a:r>
              <a:rPr lang="en-IN" sz="1500" b="1">
                <a:solidFill>
                  <a:srgbClr val="000000"/>
                </a:solidFill>
                <a:latin typeface="Cambria"/>
                <a:ea typeface="Cambria"/>
                <a:cs typeface="Cambria"/>
                <a:sym typeface="Cambria"/>
              </a:rPr>
              <a:t>androguard</a:t>
            </a:r>
            <a:r>
              <a:rPr lang="en-IN" sz="1500">
                <a:solidFill>
                  <a:srgbClr val="000000"/>
                </a:solidFill>
                <a:latin typeface="Cambria"/>
                <a:ea typeface="Cambria"/>
                <a:cs typeface="Cambria"/>
                <a:sym typeface="Cambria"/>
              </a:rPr>
              <a:t> and </a:t>
            </a:r>
            <a:r>
              <a:rPr lang="en-IN" sz="1500" b="1">
                <a:solidFill>
                  <a:srgbClr val="000000"/>
                </a:solidFill>
                <a:latin typeface="Cambria"/>
                <a:ea typeface="Cambria"/>
                <a:cs typeface="Cambria"/>
                <a:sym typeface="Cambria"/>
              </a:rPr>
              <a:t>pyaxmlparser</a:t>
            </a:r>
            <a:r>
              <a:rPr lang="en-IN" sz="1500">
                <a:solidFill>
                  <a:srgbClr val="000000"/>
                </a:solidFill>
                <a:latin typeface="Cambria"/>
                <a:ea typeface="Cambria"/>
                <a:cs typeface="Cambria"/>
                <a:sym typeface="Cambria"/>
              </a:rPr>
              <a:t> (parsing), </a:t>
            </a:r>
            <a:r>
              <a:rPr lang="en-IN" sz="1500" b="1">
                <a:solidFill>
                  <a:srgbClr val="000000"/>
                </a:solidFill>
                <a:latin typeface="Cambria"/>
                <a:ea typeface="Cambria"/>
                <a:cs typeface="Cambria"/>
                <a:sym typeface="Cambria"/>
              </a:rPr>
              <a:t>pytest</a:t>
            </a:r>
            <a:r>
              <a:rPr lang="en-IN" sz="1500">
                <a:solidFill>
                  <a:srgbClr val="000000"/>
                </a:solidFill>
                <a:latin typeface="Cambria"/>
                <a:ea typeface="Cambria"/>
                <a:cs typeface="Cambria"/>
                <a:sym typeface="Cambria"/>
              </a:rPr>
              <a:t> (150 unit test modules).</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Platform: </a:t>
            </a:r>
            <a:r>
              <a:rPr lang="en-IN" sz="1500" b="1">
                <a:solidFill>
                  <a:srgbClr val="000000"/>
                </a:solidFill>
                <a:latin typeface="Cambria"/>
                <a:ea typeface="Cambria"/>
                <a:cs typeface="Cambria"/>
                <a:sym typeface="Cambria"/>
              </a:rPr>
              <a:t>WSL2 Ubuntu 24.04</a:t>
            </a:r>
            <a:r>
              <a:rPr lang="en-IN" sz="1500">
                <a:solidFill>
                  <a:srgbClr val="000000"/>
                </a:solidFill>
                <a:latin typeface="Cambria"/>
                <a:ea typeface="Cambria"/>
                <a:cs typeface="Cambria"/>
                <a:sym typeface="Cambria"/>
              </a:rPr>
              <a:t> (4 vCPU, 11 GB RAM) hosting the analysis pipeline, with a </a:t>
            </a:r>
            <a:r>
              <a:rPr lang="en-IN" sz="1500" b="1">
                <a:solidFill>
                  <a:srgbClr val="000000"/>
                </a:solidFill>
                <a:latin typeface="Cambria"/>
                <a:ea typeface="Cambria"/>
                <a:cs typeface="Cambria"/>
                <a:sym typeface="Cambria"/>
              </a:rPr>
              <a:t>rooted Android 14 x86_64 AVD</a:t>
            </a:r>
            <a:r>
              <a:rPr lang="en-IN" sz="1500">
                <a:solidFill>
                  <a:srgbClr val="000000"/>
                </a:solidFill>
                <a:latin typeface="Cambria"/>
                <a:ea typeface="Cambria"/>
                <a:cs typeface="Cambria"/>
                <a:sym typeface="Cambria"/>
              </a:rPr>
              <a:t> on the Windows host reached through </a:t>
            </a:r>
            <a:r>
              <a:rPr lang="en-IN" sz="1500" b="1">
                <a:solidFill>
                  <a:srgbClr val="000000"/>
                </a:solidFill>
                <a:latin typeface="Cambria"/>
                <a:ea typeface="Cambria"/>
                <a:cs typeface="Cambria"/>
                <a:sym typeface="Cambria"/>
              </a:rPr>
              <a:t>adb reverse</a:t>
            </a:r>
            <a:r>
              <a:rPr lang="en-IN" sz="1500">
                <a:solidFill>
                  <a:srgbClr val="000000"/>
                </a:solidFill>
                <a:latin typeface="Cambria"/>
                <a:ea typeface="Cambria"/>
                <a:cs typeface="Cambria"/>
                <a:sym typeface="Cambria"/>
              </a:rPr>
              <a:t>.</a:t>
            </a:r>
          </a:p>
          <a:p>
            <a:pPr marL="342900" lvl="0" indent="-342900" algn="l" rtl="0">
              <a:lnSpc>
                <a:spcPct val="100000"/>
              </a:lnSpc>
              <a:spcBef>
                <a:spcPts val="0"/>
              </a:spcBef>
              <a:spcAft>
                <a:spcPts val="0"/>
              </a:spcAft>
              <a:buFont typeface="Cambria"/>
              <a:buChar char="•"/>
            </a:pPr>
            <a:r>
              <a:rPr lang="en-IN" sz="1500">
                <a:solidFill>
                  <a:srgbClr val="000000"/>
                </a:solidFill>
                <a:latin typeface="Cambria"/>
                <a:ea typeface="Cambria"/>
                <a:cs typeface="Cambria"/>
                <a:sym typeface="Cambria"/>
              </a:rPr>
              <a:t>Evaluation dataset: </a:t>
            </a:r>
            <a:r>
              <a:rPr lang="en-IN" sz="1500" b="1">
                <a:solidFill>
                  <a:srgbClr val="000000"/>
                </a:solidFill>
                <a:latin typeface="Cambria"/>
                <a:ea typeface="Cambria"/>
                <a:cs typeface="Cambria"/>
                <a:sym typeface="Cambria"/>
              </a:rPr>
              <a:t>OWASP UnCrackable Level 1, 2 and 3</a:t>
            </a:r>
            <a:r>
              <a:rPr lang="en-IN" sz="1500">
                <a:solidFill>
                  <a:srgbClr val="000000"/>
                </a:solidFill>
                <a:latin typeface="Cambria"/>
                <a:ea typeface="Cambria"/>
                <a:cs typeface="Cambria"/>
                <a:sym typeface="Cambria"/>
              </a:rPr>
              <a:t> as the primary ground-truthed targets, plus a calibration corpus of real store applications including </a:t>
            </a:r>
            <a:r>
              <a:rPr lang="en-IN" sz="1500" b="1">
                <a:solidFill>
                  <a:srgbClr val="000000"/>
                </a:solidFill>
                <a:latin typeface="Cambria"/>
                <a:ea typeface="Cambria"/>
                <a:cs typeface="Cambria"/>
                <a:sym typeface="Cambria"/>
              </a:rPr>
              <a:t>AndroGoat</a:t>
            </a:r>
            <a:r>
              <a:rPr lang="en-IN" sz="1500">
                <a:solidFill>
                  <a:srgbClr val="000000"/>
                </a:solidFill>
                <a:latin typeface="Cambria"/>
                <a:ea typeface="Cambria"/>
                <a:cs typeface="Cambria"/>
                <a:sym typeface="Cambria"/>
              </a:rPr>
              <a:t>, </a:t>
            </a:r>
            <a:r>
              <a:rPr lang="en-IN" sz="1500" b="1">
                <a:solidFill>
                  <a:srgbClr val="000000"/>
                </a:solidFill>
                <a:latin typeface="Cambria"/>
                <a:ea typeface="Cambria"/>
                <a:cs typeface="Cambria"/>
                <a:sym typeface="Cambria"/>
              </a:rPr>
              <a:t>PropertyGuru</a:t>
            </a:r>
            <a:r>
              <a:rPr lang="en-IN" sz="1500">
                <a:solidFill>
                  <a:srgbClr val="000000"/>
                </a:solidFill>
                <a:latin typeface="Cambria"/>
                <a:ea typeface="Cambria"/>
                <a:cs typeface="Cambria"/>
                <a:sym typeface="Cambria"/>
              </a:rPr>
              <a:t>, </a:t>
            </a:r>
            <a:r>
              <a:rPr lang="en-IN" sz="1500" b="1">
                <a:solidFill>
                  <a:srgbClr val="000000"/>
                </a:solidFill>
                <a:latin typeface="Cambria"/>
                <a:ea typeface="Cambria"/>
                <a:cs typeface="Cambria"/>
                <a:sym typeface="Cambria"/>
              </a:rPr>
              <a:t>InsecureBankv2</a:t>
            </a:r>
            <a:r>
              <a:rPr lang="en-IN" sz="1500">
                <a:solidFill>
                  <a:srgbClr val="000000"/>
                </a:solidFill>
                <a:latin typeface="Cambria"/>
                <a:ea typeface="Cambria"/>
                <a:cs typeface="Cambria"/>
                <a:sym typeface="Cambria"/>
              </a:rPr>
              <a:t>, </a:t>
            </a:r>
            <a:r>
              <a:rPr lang="en-IN" sz="1500" b="1">
                <a:solidFill>
                  <a:srgbClr val="000000"/>
                </a:solidFill>
                <a:latin typeface="Cambria"/>
                <a:ea typeface="Cambria"/>
                <a:cs typeface="Cambria"/>
                <a:sym typeface="Cambria"/>
              </a:rPr>
              <a:t>Spotify</a:t>
            </a:r>
            <a:r>
              <a:rPr lang="en-IN" sz="1500">
                <a:solidFill>
                  <a:srgbClr val="000000"/>
                </a:solidFill>
                <a:latin typeface="Cambria"/>
                <a:ea typeface="Cambria"/>
                <a:cs typeface="Cambria"/>
                <a:sym typeface="Cambria"/>
              </a:rPr>
              <a:t> and stock AOSP </a:t>
            </a:r>
            <a:r>
              <a:rPr lang="en-IN" sz="1500" b="1">
                <a:solidFill>
                  <a:srgbClr val="000000"/>
                </a:solidFill>
                <a:latin typeface="Cambria"/>
                <a:ea typeface="Cambria"/>
                <a:cs typeface="Cambria"/>
                <a:sym typeface="Cambria"/>
              </a:rPr>
              <a:t>Contacts</a:t>
            </a:r>
            <a:r>
              <a:rPr lang="en-IN" sz="1500">
                <a:solidFill>
                  <a:srgbClr val="000000"/>
                </a:solidFill>
                <a:latin typeface="Cambria"/>
                <a:ea typeface="Cambria"/>
                <a:cs typeface="Cambria"/>
                <a:sym typeface="Cambria"/>
              </a:rPr>
              <a:t> — 21 packages in total.</a:t>
            </a:r>
          </a:p>
        </p:txBody>
      </p:sp>
      <p:sp>
        <p:nvSpPr>
          <p:cNvPr id="166" name="Google Shape;166;p8"/>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67" name="Google Shape;167;p8"/>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9</a:t>
            </a:fld>
            <a:endParaRPr/>
          </a:p>
        </p:txBody>
      </p:sp>
      <p:sp>
        <p:nvSpPr>
          <p:cNvPr id="168" name="Google Shape;168;p8"/>
          <p:cNvSpPr txBox="1"/>
          <p:nvPr/>
        </p:nvSpPr>
        <p:spPr>
          <a:xfrm>
            <a:off x="3454400" y="6211669"/>
            <a:ext cx="6096000" cy="650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DEPARTMENT OF COMPUTER ENGINEERING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Methodology</a:t>
            </a:r>
            <a:endParaRPr>
              <a:latin typeface="Cambria"/>
              <a:ea typeface="Cambria"/>
              <a:cs typeface="Cambria"/>
              <a:sym typeface="Cambria"/>
            </a:endParaRPr>
          </a:p>
        </p:txBody>
      </p:sp>
      <p:sp>
        <p:nvSpPr>
          <p:cNvPr id="174" name="Google Shape;174;p9"/>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300">
                <a:solidFill>
                  <a:srgbClr val="000000"/>
                </a:solidFill>
                <a:latin typeface="Cambria"/>
                <a:ea typeface="Cambria"/>
                <a:cs typeface="Cambria"/>
                <a:sym typeface="Cambria"/>
              </a:rPr>
              <a:t>A deterministic core of four phases, with three AI capability layers deliberately deferred on top. Every stage returns a structured status, and a failed stage halts the pipeline loudly rather than degrading into a guess.</a:t>
            </a:r>
          </a:p>
          <a:p>
            <a:pPr marL="742950" lvl="1" indent="-285750" algn="l" rtl="0">
              <a:lnSpc>
                <a:spcPct val="100000"/>
              </a:lnSpc>
              <a:spcBef>
                <a:spcPts val="0"/>
              </a:spcBef>
              <a:spcAft>
                <a:spcPts val="0"/>
              </a:spcAft>
              <a:buFont typeface="Cambria"/>
              <a:buChar char="–"/>
            </a:pPr>
            <a:r>
              <a:rPr lang="en-IN" sz="1300" b="1">
                <a:solidFill>
                  <a:srgbClr val="000000"/>
                </a:solidFill>
                <a:latin typeface="Cambria"/>
                <a:ea typeface="Cambria"/>
                <a:cs typeface="Cambria"/>
                <a:sym typeface="Cambria"/>
              </a:rPr>
              <a:t>Stages 1–2 — Ingest, then detect.</a:t>
            </a:r>
            <a:r>
              <a:rPr lang="en-IN" sz="1300">
                <a:solidFill>
                  <a:srgbClr val="000000"/>
                </a:solidFill>
                <a:latin typeface="Cambria"/>
                <a:ea typeface="Cambria"/>
                <a:cs typeface="Cambria"/>
                <a:sym typeface="Cambria"/>
              </a:rPr>
              <a:t> The APK is hashed (SHA-256), fingerprinted by size and version, and given a mandatory authorization justification — OWN_APP, CTF, AUTHORIZED_ENGAGEMENT or ACADEMIC_TRAINING_TARGET — before an immutable audit record is written. Declarative YAML signatures then match five surfaces: native libraries, Java bytecode, the manifest, resources and JavaScript bundles, each match carrying file and line.</a:t>
            </a:r>
          </a:p>
          <a:p>
            <a:pPr marL="742950" lvl="1" indent="-285750" algn="l" rtl="0">
              <a:lnSpc>
                <a:spcPct val="100000"/>
              </a:lnSpc>
              <a:spcBef>
                <a:spcPts val="0"/>
              </a:spcBef>
              <a:spcAft>
                <a:spcPts val="0"/>
              </a:spcAft>
              <a:buFont typeface="Cambria"/>
              <a:buChar char="–"/>
            </a:pPr>
            <a:r>
              <a:rPr lang="en-IN" sz="1300" b="1">
                <a:solidFill>
                  <a:srgbClr val="000000"/>
                </a:solidFill>
                <a:latin typeface="Cambria"/>
                <a:ea typeface="Cambria"/>
                <a:cs typeface="Cambria"/>
                <a:sym typeface="Cambria"/>
              </a:rPr>
              <a:t>Stages 3–4 — Decide, then bypass.</a:t>
            </a:r>
            <a:r>
              <a:rPr lang="en-IN" sz="1300">
                <a:solidFill>
                  <a:srgbClr val="000000"/>
                </a:solidFill>
                <a:latin typeface="Cambria"/>
                <a:ea typeface="Cambria"/>
                <a:cs typeface="Cambria"/>
                <a:sym typeface="Cambria"/>
              </a:rPr>
              <a:t> Confidence is compared against the 0.70 threshold to yield ROOT_ONLY, SSL_ONLY, BOTH or NEITHER, with per-surface coverage recorded so a negative is certified only when that surface was fully scanned. Only the detected category is then attacked: install, auto-provision frida-server, inject that script, capture logcat, and confirm the bypass by a target-specific programmatic check.</a:t>
            </a:r>
          </a:p>
          <a:p>
            <a:pPr marL="742950" lvl="1" indent="-285750" algn="l" rtl="0">
              <a:lnSpc>
                <a:spcPct val="100000"/>
              </a:lnSpc>
              <a:spcBef>
                <a:spcPts val="0"/>
              </a:spcBef>
              <a:spcAft>
                <a:spcPts val="0"/>
              </a:spcAft>
              <a:buFont typeface="Cambria"/>
              <a:buChar char="–"/>
            </a:pPr>
            <a:r>
              <a:rPr lang="en-IN" sz="1300" b="1">
                <a:solidFill>
                  <a:srgbClr val="000000"/>
                </a:solidFill>
                <a:latin typeface="Cambria"/>
                <a:ea typeface="Cambria"/>
                <a:cs typeface="Cambria"/>
                <a:sym typeface="Cambria"/>
              </a:rPr>
              <a:t>Stages 5–6 — Correlate, then calibrate.</a:t>
            </a:r>
            <a:r>
              <a:rPr lang="en-IN" sz="1300">
                <a:solidFill>
                  <a:srgbClr val="000000"/>
                </a:solidFill>
                <a:latin typeface="Cambria"/>
                <a:ea typeface="Cambria"/>
                <a:cs typeface="Cambria"/>
                <a:sym typeface="Cambria"/>
              </a:rPr>
              <a:t> Static and dynamic results are compared and disagreements flagged explicitly, and Markdown and HTML reports are generated with an explicit limitations section. Every run records predicted versus actual: Tier 1 reports the dynamic confirmation rate as a lower bound on precision, Tier 2 reports precision, recall and F1 against independent ground truth, one datapoint per package.</a:t>
            </a:r>
          </a:p>
          <a:p>
            <a:pPr marL="342900" lvl="0" indent="-342900" algn="l" rtl="0">
              <a:lnSpc>
                <a:spcPct val="100000"/>
              </a:lnSpc>
              <a:spcBef>
                <a:spcPts val="0"/>
              </a:spcBef>
              <a:spcAft>
                <a:spcPts val="0"/>
              </a:spcAft>
              <a:buFont typeface="Cambria"/>
              <a:buChar char="•"/>
            </a:pPr>
            <a:r>
              <a:rPr lang="en-IN" sz="1300" b="1">
                <a:solidFill>
                  <a:srgbClr val="000000"/>
                </a:solidFill>
                <a:latin typeface="Cambria"/>
                <a:ea typeface="Cambria"/>
                <a:cs typeface="Cambria"/>
                <a:sym typeface="Cambria"/>
              </a:rPr>
              <a:t>Evidence discipline.</a:t>
            </a:r>
            <a:r>
              <a:rPr lang="en-IN" sz="1300">
                <a:solidFill>
                  <a:srgbClr val="000000"/>
                </a:solidFill>
                <a:latin typeface="Cambria"/>
                <a:ea typeface="Cambria"/>
                <a:cs typeface="Cambria"/>
                <a:sym typeface="Cambria"/>
              </a:rPr>
              <a:t> Every finding carries a verification state — deterministic_matched, dynamically_confirmed or ai_hypothesized_unverified — and nothing downstream treats the last as equal to the first two.</a:t>
            </a:r>
          </a:p>
        </p:txBody>
      </p:sp>
      <p:sp>
        <p:nvSpPr>
          <p:cNvPr id="175" name="Google Shape;175;p9"/>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76" name="Google Shape;176;p9"/>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10</a:t>
            </a:fld>
            <a:endParaRPr/>
          </a:p>
        </p:txBody>
      </p:sp>
      <p:sp>
        <p:nvSpPr>
          <p:cNvPr id="177" name="Google Shape;177;p9"/>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chemeClr val="dk1"/>
              </a:solidFill>
              <a:latin typeface="Cambria"/>
              <a:ea typeface="Cambria"/>
              <a:cs typeface="Cambria"/>
              <a:sym typeface="Cambria"/>
            </a:endParaRPr>
          </a:p>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h7f9a4c8fa777841d_0_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Result</a:t>
            </a:r>
            <a:endParaRPr>
              <a:latin typeface="Cambria"/>
              <a:ea typeface="Cambria"/>
              <a:cs typeface="Cambria"/>
              <a:sym typeface="Cambria"/>
            </a:endParaRPr>
          </a:p>
        </p:txBody>
      </p:sp>
      <p:sp>
        <p:nvSpPr>
          <p:cNvPr id="183" name="Google Shape;183;h7f9a4c8fa777841d_0_24"/>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End-to-end validation on the OWASP UnCrackable series.</a:t>
            </a:r>
            <a:r>
              <a:rPr lang="en-IN" sz="1400">
                <a:solidFill>
                  <a:srgbClr val="000000"/>
                </a:solidFill>
                <a:latin typeface="Cambria"/>
                <a:ea typeface="Cambria"/>
                <a:cs typeface="Cambria"/>
                <a:sym typeface="Cambria"/>
              </a:rPr>
              <a:t> Level 1 resolved to ROOT_ONLY with all three Frida hooks firing and bypassed = true; Level 2 and Level 3 each resolved to ROOT_ONLY at 1.00 confidence, matched by the same signatures with zero rule changes across all three applications.</a:t>
            </a:r>
          </a:p>
          <a:p>
            <a:pPr marL="342900" lvl="0" indent="-34290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Tier 1 — Dynamic confirmation rate</a:t>
            </a:r>
            <a:r>
              <a:rPr lang="en-IN" sz="1400">
                <a:solidFill>
                  <a:srgbClr val="000000"/>
                </a:solidFill>
                <a:latin typeface="Cambria"/>
                <a:ea typeface="Cambria"/>
                <a:cs typeface="Cambria"/>
                <a:sym typeface="Cambria"/>
              </a:rPr>
              <a:t> (runs where verification actually executed; a lower bound on precision, not precision itself):</a:t>
            </a:r>
          </a:p>
          <a:p>
            <a:pPr marL="742950" lvl="1" indent="-28575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Root detection: </a:t>
            </a:r>
            <a:r>
              <a:rPr lang="en-IN" sz="1400">
                <a:solidFill>
                  <a:srgbClr val="000000"/>
                </a:solidFill>
                <a:latin typeface="Cambria"/>
                <a:ea typeface="Cambria"/>
                <a:cs typeface="Cambria"/>
                <a:sym typeface="Cambria"/>
              </a:rPr>
              <a:t>121 confirmed, 0 not confirmed, 259 unverified — rate 1.00</a:t>
            </a:r>
          </a:p>
          <a:p>
            <a:pPr marL="742950" lvl="1" indent="-28575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SSL/TLS pinning: </a:t>
            </a:r>
            <a:r>
              <a:rPr lang="en-IN" sz="1400">
                <a:solidFill>
                  <a:srgbClr val="000000"/>
                </a:solidFill>
                <a:latin typeface="Cambria"/>
                <a:ea typeface="Cambria"/>
                <a:cs typeface="Cambria"/>
                <a:sym typeface="Cambria"/>
              </a:rPr>
              <a:t>10 confirmed, 0 not confirmed, 202 unverified — rate 1.00</a:t>
            </a:r>
          </a:p>
          <a:p>
            <a:pPr marL="342900" lvl="0" indent="-34290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Tier 2 — Precision / Recall / F1 against independently sourced ground truth</a:t>
            </a:r>
            <a:r>
              <a:rPr lang="en-IN" sz="1400">
                <a:solidFill>
                  <a:srgbClr val="000000"/>
                </a:solidFill>
                <a:latin typeface="Cambria"/>
                <a:ea typeface="Cambria"/>
                <a:cs typeface="Cambria"/>
                <a:sym typeface="Cambria"/>
              </a:rPr>
              <a:t> (one datapoint per package):</a:t>
            </a:r>
          </a:p>
          <a:p>
            <a:pPr marL="742950" lvl="1" indent="-28575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Root detection: </a:t>
            </a:r>
            <a:r>
              <a:rPr lang="en-IN" sz="1400">
                <a:solidFill>
                  <a:srgbClr val="000000"/>
                </a:solidFill>
                <a:latin typeface="Cambria"/>
                <a:ea typeface="Cambria"/>
                <a:cs typeface="Cambria"/>
                <a:sym typeface="Cambria"/>
              </a:rPr>
              <a:t>TP 6 / FP 0 / FN 0 / TN 1 — P 1.00, R 1.00, F1 1.00 (n = 7)</a:t>
            </a:r>
          </a:p>
          <a:p>
            <a:pPr marL="742950" lvl="1" indent="-28575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SSL/TLS pinning: </a:t>
            </a:r>
            <a:r>
              <a:rPr lang="en-IN" sz="1400">
                <a:solidFill>
                  <a:srgbClr val="000000"/>
                </a:solidFill>
                <a:latin typeface="Cambria"/>
                <a:ea typeface="Cambria"/>
                <a:cs typeface="Cambria"/>
                <a:sym typeface="Cambria"/>
              </a:rPr>
              <a:t>TP 2 / FP 0 / FN 0 / TN 2 — P 1.00, R 1.00, F1 1.00 (n = 4)</a:t>
            </a:r>
          </a:p>
          <a:p>
            <a:pPr marL="342900" lvl="0" indent="-34290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Negative control.</a:t>
            </a:r>
            <a:r>
              <a:rPr lang="en-IN" sz="1400">
                <a:solidFill>
                  <a:srgbClr val="000000"/>
                </a:solidFill>
                <a:latin typeface="Cambria"/>
                <a:ea typeface="Cambria"/>
                <a:cs typeface="Cambria"/>
                <a:sym typeface="Cambria"/>
              </a:rPr>
              <a:t> Stock AOSP Contacts returned a clean 0.00 / 0.00 confidence — the deterministic true negative that proves NEITHER is a real outcome and not a theoretical one.</a:t>
            </a:r>
          </a:p>
          <a:p>
            <a:pPr marL="342900" lvl="0" indent="-34290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A measured miss, reported rather than hidden.</a:t>
            </a:r>
            <a:r>
              <a:rPr lang="en-IN" sz="1400">
                <a:solidFill>
                  <a:srgbClr val="000000"/>
                </a:solidFill>
                <a:latin typeface="Cambria"/>
                <a:ea typeface="Cambria"/>
                <a:cs typeface="Cambria"/>
                <a:sym typeface="Cambria"/>
              </a:rPr>
              <a:t> PropertyGuru scored root 0.20 — below threshold, and therefore a false negative — because its root checks live in a React Native bundle outside the Java surface. It is recorded and excluded from recall, not concealed, and it is a coverage limit rather than a silencer.</a:t>
            </a:r>
          </a:p>
          <a:p>
            <a:pPr marL="342900" lvl="0" indent="-342900" algn="l" rtl="0">
              <a:lnSpc>
                <a:spcPct val="100000"/>
              </a:lnSpc>
              <a:spcBef>
                <a:spcPts val="0"/>
              </a:spcBef>
              <a:spcAft>
                <a:spcPts val="0"/>
              </a:spcAft>
              <a:buFont typeface="Cambria"/>
              <a:buChar char="•"/>
            </a:pPr>
            <a:r>
              <a:rPr lang="en-IN" sz="1400" b="1">
                <a:solidFill>
                  <a:srgbClr val="000000"/>
                </a:solidFill>
                <a:latin typeface="Cambria"/>
                <a:ea typeface="Cambria"/>
                <a:cs typeface="Cambria"/>
                <a:sym typeface="Cambria"/>
              </a:rPr>
              <a:t>Scale of the corpus: </a:t>
            </a:r>
            <a:r>
              <a:rPr lang="en-IN" sz="1400">
                <a:solidFill>
                  <a:srgbClr val="000000"/>
                </a:solidFill>
                <a:latin typeface="Cambria"/>
                <a:ea typeface="Cambria"/>
                <a:cs typeface="Cambria"/>
                <a:sym typeface="Cambria"/>
              </a:rPr>
              <a:t>21 packages, 306 recorded runs, 339 generated reports, 983 linked audit records.</a:t>
            </a:r>
          </a:p>
        </p:txBody>
      </p:sp>
      <p:sp>
        <p:nvSpPr>
          <p:cNvPr id="184" name="Google Shape;184;h7f9a4c8fa777841d_0_24"/>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85" name="Google Shape;185;h7f9a4c8fa777841d_0_24"/>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11</a:t>
            </a:fld>
            <a:endParaRPr/>
          </a:p>
        </p:txBody>
      </p:sp>
      <p:sp>
        <p:nvSpPr>
          <p:cNvPr id="186" name="Google Shape;186;h7f9a4c8fa777841d_0_24"/>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chemeClr val="dk1"/>
              </a:solidFill>
              <a:latin typeface="Cambria"/>
              <a:ea typeface="Cambria"/>
              <a:cs typeface="Cambria"/>
              <a:sym typeface="Cambria"/>
            </a:endParaRPr>
          </a:p>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h7f9a4c8fa777841d_0_3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Conclusion</a:t>
            </a:r>
            <a:endParaRPr>
              <a:latin typeface="Cambria"/>
              <a:ea typeface="Cambria"/>
              <a:cs typeface="Cambria"/>
              <a:sym typeface="Cambria"/>
            </a:endParaRPr>
          </a:p>
        </p:txBody>
      </p:sp>
      <p:sp>
        <p:nvSpPr>
          <p:cNvPr id="192" name="Google Shape;192;h7f9a4c8fa777841d_0_32"/>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This work treats Android root detection and certificate pinning as </a:t>
            </a:r>
            <a:r>
              <a:rPr lang="en-IN" sz="1600" b="1">
                <a:solidFill>
                  <a:srgbClr val="000000"/>
                </a:solidFill>
                <a:latin typeface="Cambria"/>
                <a:ea typeface="Cambria"/>
                <a:cs typeface="Cambria"/>
                <a:sym typeface="Cambria"/>
              </a:rPr>
              <a:t>measurement problems</a:t>
            </a:r>
            <a:r>
              <a:rPr lang="en-IN" sz="1600">
                <a:solidFill>
                  <a:srgbClr val="000000"/>
                </a:solidFill>
                <a:latin typeface="Cambria"/>
                <a:ea typeface="Cambria"/>
                <a:cs typeface="Cambria"/>
                <a:sym typeface="Cambria"/>
              </a:rPr>
              <a:t> rather than pattern-matching problems.</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The platform delivers </a:t>
            </a:r>
            <a:r>
              <a:rPr lang="en-IN" sz="1600" b="1">
                <a:solidFill>
                  <a:srgbClr val="000000"/>
                </a:solidFill>
                <a:latin typeface="Cambria"/>
                <a:ea typeface="Cambria"/>
                <a:cs typeface="Cambria"/>
                <a:sym typeface="Cambria"/>
              </a:rPr>
              <a:t>detection with cited evidence</a:t>
            </a:r>
            <a:r>
              <a:rPr lang="en-IN" sz="1600">
                <a:solidFill>
                  <a:srgbClr val="000000"/>
                </a:solidFill>
                <a:latin typeface="Cambria"/>
                <a:ea typeface="Cambria"/>
                <a:cs typeface="Cambria"/>
                <a:sym typeface="Cambria"/>
              </a:rPr>
              <a:t>, </a:t>
            </a:r>
            <a:r>
              <a:rPr lang="en-IN" sz="1600" b="1">
                <a:solidFill>
                  <a:srgbClr val="000000"/>
                </a:solidFill>
                <a:latin typeface="Cambria"/>
                <a:ea typeface="Cambria"/>
                <a:cs typeface="Cambria"/>
                <a:sym typeface="Cambria"/>
              </a:rPr>
              <a:t>bypass verified at runtime</a:t>
            </a:r>
            <a:r>
              <a:rPr lang="en-IN" sz="1600">
                <a:solidFill>
                  <a:srgbClr val="000000"/>
                </a:solidFill>
                <a:latin typeface="Cambria"/>
                <a:ea typeface="Cambria"/>
                <a:cs typeface="Cambria"/>
                <a:sym typeface="Cambria"/>
              </a:rPr>
              <a:t>, </a:t>
            </a:r>
            <a:r>
              <a:rPr lang="en-IN" sz="1600" b="1">
                <a:solidFill>
                  <a:srgbClr val="000000"/>
                </a:solidFill>
                <a:latin typeface="Cambria"/>
                <a:ea typeface="Cambria"/>
                <a:cs typeface="Cambria"/>
                <a:sym typeface="Cambria"/>
              </a:rPr>
              <a:t>negatives bounded by measured coverage</a:t>
            </a:r>
            <a:r>
              <a:rPr lang="en-IN" sz="1600">
                <a:solidFill>
                  <a:srgbClr val="000000"/>
                </a:solidFill>
                <a:latin typeface="Cambria"/>
                <a:ea typeface="Cambria"/>
                <a:cs typeface="Cambria"/>
                <a:sym typeface="Cambria"/>
              </a:rPr>
              <a:t>, </a:t>
            </a:r>
            <a:r>
              <a:rPr lang="en-IN" sz="1600" b="1">
                <a:solidFill>
                  <a:srgbClr val="000000"/>
                </a:solidFill>
                <a:latin typeface="Cambria"/>
                <a:ea typeface="Cambria"/>
                <a:cs typeface="Cambria"/>
                <a:sym typeface="Cambria"/>
              </a:rPr>
              <a:t>confidence calibrated from real outcomes</a:t>
            </a:r>
            <a:r>
              <a:rPr lang="en-IN" sz="1600">
                <a:solidFill>
                  <a:srgbClr val="000000"/>
                </a:solidFill>
                <a:latin typeface="Cambria"/>
                <a:ea typeface="Cambria"/>
                <a:cs typeface="Cambria"/>
                <a:sym typeface="Cambria"/>
              </a:rPr>
              <a:t> and </a:t>
            </a:r>
            <a:r>
              <a:rPr lang="en-IN" sz="1600" b="1">
                <a:solidFill>
                  <a:srgbClr val="000000"/>
                </a:solidFill>
                <a:latin typeface="Cambria"/>
                <a:ea typeface="Cambria"/>
                <a:cs typeface="Cambria"/>
                <a:sym typeface="Cambria"/>
              </a:rPr>
              <a:t>every run authorized and auditable</a:t>
            </a:r>
            <a:r>
              <a:rPr lang="en-IN" sz="1600">
                <a:solidFill>
                  <a:srgbClr val="000000"/>
                </a:solidFill>
                <a:latin typeface="Cambria"/>
                <a:ea typeface="Cambria"/>
                <a:cs typeface="Cambria"/>
                <a:sym typeface="Cambria"/>
              </a:rPr>
              <a:t>.</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Validated across OWASP UnCrackable Level 1–3 and 18 further real applications over 306 runs, it measures precision, recall and F1 of 1.00 on the subset that is fully covered and independently ground-truthed — and reports the exclusions that define that subset next to the number.</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Its honesty properties are the actual contribution: a finding always states how it was obtained, a negative is either certified under complete coverage or excluded, and no model can ever override a deterministic verdict.</a:t>
            </a:r>
          </a:p>
          <a:p>
            <a:pPr marL="342900" lvl="0" indent="-342900" algn="l" rtl="0">
              <a:lnSpc>
                <a:spcPct val="100000"/>
              </a:lnSpc>
              <a:spcBef>
                <a:spcPts val="0"/>
              </a:spcBef>
              <a:spcAft>
                <a:spcPts val="0"/>
              </a:spcAft>
              <a:buFont typeface="Cambria"/>
              <a:buChar char="•"/>
            </a:pPr>
            <a:r>
              <a:rPr lang="en-IN" sz="1600">
                <a:solidFill>
                  <a:srgbClr val="000000"/>
                </a:solidFill>
                <a:latin typeface="Cambria"/>
                <a:ea typeface="Cambria"/>
                <a:cs typeface="Cambria"/>
                <a:sym typeface="Cambria"/>
              </a:rPr>
              <a:t>The architecture is delivered as a </a:t>
            </a:r>
            <a:r>
              <a:rPr lang="en-IN" sz="1600" b="1">
                <a:solidFill>
                  <a:srgbClr val="000000"/>
                </a:solidFill>
                <a:latin typeface="Cambria"/>
                <a:ea typeface="Cambria"/>
                <a:cs typeface="Cambria"/>
                <a:sym typeface="Cambria"/>
              </a:rPr>
              <a:t>working deterministic core (Phases 1–4)</a:t>
            </a:r>
            <a:r>
              <a:rPr lang="en-IN" sz="1600">
                <a:solidFill>
                  <a:srgbClr val="000000"/>
                </a:solidFill>
                <a:latin typeface="Cambria"/>
                <a:ea typeface="Cambria"/>
                <a:cs typeface="Cambria"/>
                <a:sym typeface="Cambria"/>
              </a:rPr>
              <a:t>, with the AI capability layers scoped and deliberately gated behind empirical verification rather than shipped as promises.</a:t>
            </a:r>
          </a:p>
        </p:txBody>
      </p:sp>
      <p:sp>
        <p:nvSpPr>
          <p:cNvPr id="193" name="Google Shape;193;h7f9a4c8fa777841d_0_3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194" name="Google Shape;194;h7f9a4c8fa777841d_0_32"/>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12</a:t>
            </a:fld>
            <a:endParaRPr/>
          </a:p>
        </p:txBody>
      </p:sp>
      <p:sp>
        <p:nvSpPr>
          <p:cNvPr id="195" name="Google Shape;195;h7f9a4c8fa777841d_0_32"/>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chemeClr val="dk1"/>
              </a:solidFill>
              <a:latin typeface="Cambria"/>
              <a:ea typeface="Cambria"/>
              <a:cs typeface="Cambria"/>
              <a:sym typeface="Cambria"/>
            </a:endParaRPr>
          </a:p>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h7f9a4c8fa777841d_0_4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Future Work</a:t>
            </a:r>
            <a:endParaRPr>
              <a:latin typeface="Cambria"/>
              <a:ea typeface="Cambria"/>
              <a:cs typeface="Cambria"/>
              <a:sym typeface="Cambria"/>
            </a:endParaRPr>
          </a:p>
        </p:txBody>
      </p:sp>
      <p:sp>
        <p:nvSpPr>
          <p:cNvPr id="201" name="Google Shape;201;h7f9a4c8fa777841d_0_40"/>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Font typeface="Cambria"/>
              <a:buChar char="•"/>
            </a:pPr>
            <a:r>
              <a:rPr lang="en-IN" sz="1450" b="1">
                <a:solidFill>
                  <a:srgbClr val="000000"/>
                </a:solidFill>
                <a:latin typeface="Cambria"/>
                <a:ea typeface="Cambria"/>
                <a:cs typeface="Cambria"/>
                <a:sym typeface="Cambria"/>
              </a:rPr>
              <a:t>Knowledge-grounded reporting.</a:t>
            </a:r>
            <a:r>
              <a:rPr lang="en-IN" sz="1450">
                <a:solidFill>
                  <a:srgbClr val="000000"/>
                </a:solidFill>
                <a:latin typeface="Cambria"/>
                <a:ea typeface="Cambria"/>
                <a:cs typeface="Cambria"/>
                <a:sym typeface="Cambria"/>
              </a:rPr>
              <a:t> Index the OWASP MASTG technique catalogue and prior findings into a local vector store, so reports cite the actual technique name instead of letting a model invent terminology. Requires only the proven core and real data.</a:t>
            </a:r>
          </a:p>
          <a:p>
            <a:pPr marL="342900" lvl="0" indent="-342900" algn="l" rtl="0">
              <a:lnSpc>
                <a:spcPct val="100000"/>
              </a:lnSpc>
              <a:spcBef>
                <a:spcPts val="0"/>
              </a:spcBef>
              <a:spcAft>
                <a:spcPts val="0"/>
              </a:spcAft>
              <a:buFont typeface="Cambria"/>
              <a:buChar char="•"/>
            </a:pPr>
            <a:r>
              <a:rPr lang="en-IN" sz="1450" b="1">
                <a:solidFill>
                  <a:srgbClr val="000000"/>
                </a:solidFill>
                <a:latin typeface="Cambria"/>
                <a:ea typeface="Cambria"/>
                <a:cs typeface="Cambria"/>
                <a:sym typeface="Cambria"/>
              </a:rPr>
              <a:t>Semantic hypothesis generation.</a:t>
            </a:r>
            <a:r>
              <a:rPr lang="en-IN" sz="1450">
                <a:solidFill>
                  <a:srgbClr val="000000"/>
                </a:solidFill>
                <a:latin typeface="Cambria"/>
                <a:ea typeface="Cambria"/>
                <a:cs typeface="Cambria"/>
                <a:sym typeface="Cambria"/>
              </a:rPr>
              <a:t> Where the deterministic engine cannot confidently match — obfuscated or unmatched code — a heuristic pre-filter narrows candidates before a code-reasoning model proposes structured hook targets, stored as unverified until the dynamic harness checks them. Gated behind a blind evaluation against known patterns.</a:t>
            </a:r>
          </a:p>
          <a:p>
            <a:pPr marL="342900" lvl="0" indent="-342900" algn="l" rtl="0">
              <a:lnSpc>
                <a:spcPct val="100000"/>
              </a:lnSpc>
              <a:spcBef>
                <a:spcPts val="0"/>
              </a:spcBef>
              <a:spcAft>
                <a:spcPts val="0"/>
              </a:spcAft>
              <a:buFont typeface="Cambria"/>
              <a:buChar char="•"/>
            </a:pPr>
            <a:r>
              <a:rPr lang="en-IN" sz="1450" b="1">
                <a:solidFill>
                  <a:srgbClr val="000000"/>
                </a:solidFill>
                <a:latin typeface="Cambria"/>
                <a:ea typeface="Cambria"/>
                <a:cs typeface="Cambria"/>
                <a:sym typeface="Cambria"/>
              </a:rPr>
              <a:t>Human-reviewed bypass synthesis.</a:t>
            </a:r>
            <a:r>
              <a:rPr lang="en-IN" sz="1450">
                <a:solidFill>
                  <a:srgbClr val="000000"/>
                </a:solidFill>
                <a:latin typeface="Cambria"/>
                <a:ea typeface="Cambria"/>
                <a:cs typeface="Cambria"/>
                <a:sym typeface="Cambria"/>
              </a:rPr>
              <a:t> A generate-and-verify loop in which a model drafts candidate hooks constrained to a small library of safe shapes, executed in a reverted emulator snapshot with a timeout and bounded retries. Promotion to a trusted, reusable technique requires two independent positive signals and explicit human review.</a:t>
            </a:r>
          </a:p>
          <a:p>
            <a:pPr marL="342900" lvl="0" indent="-342900" algn="l" rtl="0">
              <a:lnSpc>
                <a:spcPct val="100000"/>
              </a:lnSpc>
              <a:spcBef>
                <a:spcPts val="0"/>
              </a:spcBef>
              <a:spcAft>
                <a:spcPts val="0"/>
              </a:spcAft>
              <a:buFont typeface="Cambria"/>
              <a:buChar char="•"/>
            </a:pPr>
            <a:r>
              <a:rPr lang="en-IN" sz="1450" b="1">
                <a:solidFill>
                  <a:srgbClr val="000000"/>
                </a:solidFill>
                <a:latin typeface="Cambria"/>
                <a:ea typeface="Cambria"/>
                <a:cs typeface="Cambria"/>
                <a:sym typeface="Cambria"/>
              </a:rPr>
              <a:t>Wider native coverage.</a:t>
            </a:r>
            <a:r>
              <a:rPr lang="en-IN" sz="1450">
                <a:solidFill>
                  <a:srgbClr val="000000"/>
                </a:solidFill>
                <a:latin typeface="Cambria"/>
                <a:ea typeface="Cambria"/>
                <a:cs typeface="Cambria"/>
                <a:sym typeface="Cambria"/>
              </a:rPr>
              <a:t> Extend structural and string analysis for symbol-stripped native pin logic, where indicators are currently found but not attributed to a function.</a:t>
            </a:r>
          </a:p>
          <a:p>
            <a:pPr marL="342900" lvl="0" indent="-342900" algn="l" rtl="0">
              <a:lnSpc>
                <a:spcPct val="100000"/>
              </a:lnSpc>
              <a:spcBef>
                <a:spcPts val="0"/>
              </a:spcBef>
              <a:spcAft>
                <a:spcPts val="0"/>
              </a:spcAft>
              <a:buFont typeface="Cambria"/>
              <a:buChar char="•"/>
            </a:pPr>
            <a:r>
              <a:rPr lang="en-IN" sz="1450" b="1">
                <a:solidFill>
                  <a:srgbClr val="000000"/>
                </a:solidFill>
                <a:latin typeface="Cambria"/>
                <a:ea typeface="Cambria"/>
                <a:cs typeface="Cambria"/>
                <a:sym typeface="Cambria"/>
              </a:rPr>
              <a:t>A larger independent corpus.</a:t>
            </a:r>
            <a:r>
              <a:rPr lang="en-IN" sz="1450">
                <a:solidFill>
                  <a:srgbClr val="000000"/>
                </a:solidFill>
                <a:latin typeface="Cambria"/>
                <a:ea typeface="Cambria"/>
                <a:cs typeface="Cambria"/>
                <a:sym typeface="Cambria"/>
              </a:rPr>
              <a:t> The size of the measured subset is what limits the strength of any precision claim, so growing the ground-truthed corpus is the highest-value deterministic next step.</a:t>
            </a:r>
          </a:p>
          <a:p>
            <a:pPr marL="342900" lvl="0" indent="-342900" algn="l" rtl="0">
              <a:lnSpc>
                <a:spcPct val="100000"/>
              </a:lnSpc>
              <a:spcBef>
                <a:spcPts val="0"/>
              </a:spcBef>
              <a:spcAft>
                <a:spcPts val="0"/>
              </a:spcAft>
              <a:buFont typeface="Cambria"/>
              <a:buChar char="•"/>
            </a:pPr>
            <a:r>
              <a:rPr lang="en-IN" sz="1450" b="1">
                <a:solidFill>
                  <a:srgbClr val="000000"/>
                </a:solidFill>
                <a:latin typeface="Cambria"/>
                <a:ea typeface="Cambria"/>
                <a:cs typeface="Cambria"/>
                <a:sym typeface="Cambria"/>
              </a:rPr>
              <a:t>Explicit non-goal retained.</a:t>
            </a:r>
            <a:r>
              <a:rPr lang="en-IN" sz="1450">
                <a:solidFill>
                  <a:srgbClr val="000000"/>
                </a:solidFill>
                <a:latin typeface="Cambria"/>
                <a:ea typeface="Cambria"/>
                <a:cs typeface="Cambria"/>
                <a:sym typeface="Cambria"/>
              </a:rPr>
              <a:t> Hardware-backed remote attestation such as full Play Integrity verification is documented as a limitation rather than approached, because client-side hooking cannot honestly defeat it.</a:t>
            </a:r>
          </a:p>
        </p:txBody>
      </p:sp>
      <p:sp>
        <p:nvSpPr>
          <p:cNvPr id="202" name="Google Shape;202;h7f9a4c8fa777841d_0_40"/>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203" name="Google Shape;203;h7f9a4c8fa777841d_0_40"/>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13</a:t>
            </a:fld>
            <a:endParaRPr/>
          </a:p>
        </p:txBody>
      </p:sp>
      <p:sp>
        <p:nvSpPr>
          <p:cNvPr id="204" name="Google Shape;204;h7f9a4c8fa777841d_0_40"/>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chemeClr val="dk1"/>
              </a:solidFill>
              <a:latin typeface="Cambria"/>
              <a:ea typeface="Cambria"/>
              <a:cs typeface="Cambria"/>
              <a:sym typeface="Cambria"/>
            </a:endParaRPr>
          </a:p>
          <a:p>
            <a:pPr marL="0" marR="0" lvl="0" indent="0" algn="ctr" rtl="0">
              <a:lnSpc>
                <a:spcPct val="100000"/>
              </a:lnSpc>
              <a:spcBef>
                <a:spcPts val="0"/>
              </a:spcBef>
              <a:spcAft>
                <a:spcPts val="0"/>
              </a:spcAft>
              <a:buClr>
                <a:schemeClr val="dk1"/>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References</a:t>
            </a:r>
            <a:endParaRPr>
              <a:latin typeface="Cambria"/>
              <a:ea typeface="Cambria"/>
              <a:cs typeface="Cambria"/>
              <a:sym typeface="Cambria"/>
            </a:endParaRPr>
          </a:p>
        </p:txBody>
      </p:sp>
      <p:sp>
        <p:nvSpPr>
          <p:cNvPr id="210" name="Google Shape;210;p10"/>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[1]  </a:t>
            </a:r>
            <a:r>
              <a:rPr lang="en-IN" sz="1050">
                <a:solidFill>
                  <a:srgbClr val="000000"/>
                </a:solidFill>
                <a:latin typeface="Cambria"/>
                <a:ea typeface="Cambria"/>
                <a:cs typeface="Cambria"/>
                <a:sym typeface="Cambria"/>
              </a:rPr>
              <a:t>OWASP Foundation, "OWASP Mobile Security Testing Guide," 2024. [Online]. Available: https://owasp.org/www-project-mobile-security-testing-guide/</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[2]  </a:t>
            </a:r>
            <a:r>
              <a:rPr lang="en-IN" sz="1050">
                <a:solidFill>
                  <a:srgbClr val="000000"/>
                </a:solidFill>
                <a:latin typeface="Cambria"/>
                <a:ea typeface="Cambria"/>
                <a:cs typeface="Cambria"/>
                <a:sym typeface="Cambria"/>
              </a:rPr>
              <a:t>OWASP Foundation, "Mobile Application Security Verification Standard (MASVS)," version 2.1, 2024. [Online]. Available: https://mas.owasp.org/MASVS/</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[3]  </a:t>
            </a:r>
            <a:r>
              <a:rPr lang="en-IN" sz="1050">
                <a:solidFill>
                  <a:srgbClr val="000000"/>
                </a:solidFill>
                <a:latin typeface="Cambria"/>
                <a:ea typeface="Cambria"/>
                <a:cs typeface="Cambria"/>
                <a:sym typeface="Cambria"/>
              </a:rPr>
              <a:t>A. Desnos, "Androguard: Reverse engineering, malware and goodware analysis of Android applications," 2011. [Online]. Available: https://github.com/androguard/androguard</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[4]  </a:t>
            </a:r>
            <a:r>
              <a:rPr lang="en-IN" sz="1050">
                <a:solidFill>
                  <a:srgbClr val="000000"/>
                </a:solidFill>
                <a:latin typeface="Cambria"/>
                <a:ea typeface="Cambria"/>
                <a:cs typeface="Cambria"/>
                <a:sym typeface="Cambria"/>
              </a:rPr>
              <a:t>D. Arp, M. Spreitzenbarth, M. Hubner, H. Gascon, and K. Rieck, "DREBIN: Effective and explainable detection of Android malware in your pocket," in Proc. Network and Distributed System Security Symposium (NDSS), 2014.</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[5]  </a:t>
            </a:r>
            <a:r>
              <a:rPr lang="en-IN" sz="1050">
                <a:solidFill>
                  <a:srgbClr val="000000"/>
                </a:solidFill>
                <a:latin typeface="Cambria"/>
                <a:ea typeface="Cambria"/>
                <a:cs typeface="Cambria"/>
                <a:sym typeface="Cambria"/>
              </a:rPr>
              <a:t>S. Fahl, M. Harbach, T. Muders, L. Baumgartner, B. Freisleben, and M. Smith, "Why Eve and Mallory love Android: An analysis of Android SSL (in)security," in Proc. ACM Conf. Computer and Communications Security (CCS), 2012.</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[6]  </a:t>
            </a:r>
            <a:r>
              <a:rPr lang="en-IN" sz="1050">
                <a:solidFill>
                  <a:srgbClr val="000000"/>
                </a:solidFill>
                <a:latin typeface="Cambria"/>
                <a:ea typeface="Cambria"/>
                <a:cs typeface="Cambria"/>
                <a:sym typeface="Cambria"/>
              </a:rPr>
              <a:t>S. Fahl, M. Harbach, H. Perl, M. Koetter, and M. Smith, "Rethinking SSL development in an appified world," in Proc. ACM SIGSAC Conf. Computer and Communications Security (CCS), 2013.</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[7]  </a:t>
            </a:r>
            <a:r>
              <a:rPr lang="en-IN" sz="1050">
                <a:solidFill>
                  <a:srgbClr val="000000"/>
                </a:solidFill>
                <a:latin typeface="Cambria"/>
                <a:ea typeface="Cambria"/>
                <a:cs typeface="Cambria"/>
                <a:sym typeface="Cambria"/>
              </a:rPr>
              <a:t>D. Sounthiraraj, J. Sahs, G. Greenwood, Z. Lin, and L. Khan, "SMV-HUNTER: Large scale, automated detection of SSL/TLS man-in-the-middle vulnerabilities in Android apps," in Proc. NDSS, 2014.</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[8]  </a:t>
            </a:r>
            <a:r>
              <a:rPr lang="en-IN" sz="1050">
                <a:solidFill>
                  <a:srgbClr val="000000"/>
                </a:solidFill>
                <a:latin typeface="Cambria"/>
                <a:ea typeface="Cambria"/>
                <a:cs typeface="Cambria"/>
                <a:sym typeface="Cambria"/>
              </a:rPr>
              <a:t>T. Petsas, G. Voyatzis, E. Athanasopoulos, M. Polychronakis, and S. Ioannidis, "Rage against the virtual machine: Hindering dynamic analysis of Android malware," in Proc. EuroSec, 2014.</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[9]  </a:t>
            </a:r>
            <a:r>
              <a:rPr lang="en-IN" sz="1050">
                <a:solidFill>
                  <a:srgbClr val="000000"/>
                </a:solidFill>
                <a:latin typeface="Cambria"/>
                <a:ea typeface="Cambria"/>
                <a:cs typeface="Cambria"/>
                <a:sym typeface="Cambria"/>
              </a:rPr>
              <a:t>S. Rasthofer, S. Arzt, M. Miltenberger, and E. Bodden, "Harvesting runtime values in Android applications that feature anti-analysis techniques," in Proc. NDSS, 2016.</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[10]  </a:t>
            </a:r>
            <a:r>
              <a:rPr lang="en-IN" sz="1050">
                <a:solidFill>
                  <a:srgbClr val="000000"/>
                </a:solidFill>
                <a:latin typeface="Cambria"/>
                <a:ea typeface="Cambria"/>
                <a:cs typeface="Cambria"/>
                <a:sym typeface="Cambria"/>
              </a:rPr>
              <a:t>S. Arzt, S. Rasthofer, C. Fritz, E. Bodden, A. Bartel, J. Klein, Y. Le Traon, D. Octeau, and P. McDaniel, "FlowDroid: Precise context, flow, field, object-sensitive and lifecycle-aware taint analysis for Android apps," in Proc. ACM PLDI, 2014.</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[11]  </a:t>
            </a:r>
            <a:r>
              <a:rPr lang="en-IN" sz="1050">
                <a:solidFill>
                  <a:srgbClr val="000000"/>
                </a:solidFill>
                <a:latin typeface="Cambria"/>
                <a:ea typeface="Cambria"/>
                <a:cs typeface="Cambria"/>
                <a:sym typeface="Cambria"/>
              </a:rPr>
              <a:t>Frida — dynamic instrumentation toolkit for Android, iOS and native apps. [Online]. Available: https://frida.re</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[12]  </a:t>
            </a:r>
            <a:r>
              <a:rPr lang="en-IN" sz="1050">
                <a:solidFill>
                  <a:srgbClr val="000000"/>
                </a:solidFill>
                <a:latin typeface="Cambria"/>
                <a:ea typeface="Cambria"/>
                <a:cs typeface="Cambria"/>
                <a:sym typeface="Cambria"/>
              </a:rPr>
              <a:t>Mobile Security Framework (MobSF). [Online]. Available: https://github.com/MobSF/Mobile-Security-Framework-MobSF</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[13]  </a:t>
            </a:r>
            <a:r>
              <a:rPr lang="en-IN" sz="1050">
                <a:solidFill>
                  <a:srgbClr val="000000"/>
                </a:solidFill>
                <a:latin typeface="Cambria"/>
                <a:ea typeface="Cambria"/>
                <a:cs typeface="Cambria"/>
                <a:sym typeface="Cambria"/>
              </a:rPr>
              <a:t>jadx — Dex to Java decompiler. [Online]. Available: https://github.com/skylot/jadx</a:t>
            </a:r>
          </a:p>
          <a:p>
            <a:pPr marL="428625" lvl="0" indent="-428625" algn="l" rtl="0">
              <a:lnSpc>
                <a:spcPct val="100000"/>
              </a:lnSpc>
              <a:spcBef>
                <a:spcPts val="0"/>
              </a:spcBef>
              <a:spcAft>
                <a:spcPts val="0"/>
              </a:spcAft>
              <a:buNone/>
              <a:spcAft>
                <a:spcPts val="300"/>
              </a:spcAft>
            </a:pPr>
            <a:r>
              <a:rPr lang="en-IN" sz="1050" b="1">
                <a:solidFill>
                  <a:srgbClr val="000000"/>
                </a:solidFill>
                <a:latin typeface="Cambria"/>
                <a:ea typeface="Cambria"/>
                <a:cs typeface="Cambria"/>
                <a:sym typeface="Cambria"/>
              </a:rPr>
              <a:t>[14]  </a:t>
            </a:r>
            <a:r>
              <a:rPr lang="en-IN" sz="1050">
                <a:solidFill>
                  <a:srgbClr val="000000"/>
                </a:solidFill>
                <a:latin typeface="Cambria"/>
                <a:ea typeface="Cambria"/>
                <a:cs typeface="Cambria"/>
                <a:sym typeface="Cambria"/>
              </a:rPr>
              <a:t>Google, "Android Network Security Configuration: certificate pinning," Android Developers. [Online]. Available: https://developer.android.com/privacy-and-security/security-config</a:t>
            </a:r>
          </a:p>
        </p:txBody>
      </p:sp>
      <p:sp>
        <p:nvSpPr>
          <p:cNvPr id="211" name="Google Shape;211;p10"/>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IN"/>
              <a:t>24-10-2026</a:t>
            </a:r>
          </a:p>
        </p:txBody>
      </p:sp>
      <p:sp>
        <p:nvSpPr>
          <p:cNvPr id="212" name="Google Shape;212;p10"/>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IN"/>
              <a:t>14</a:t>
            </a:fld>
            <a:endParaRPr/>
          </a:p>
        </p:txBody>
      </p:sp>
      <p:sp>
        <p:nvSpPr>
          <p:cNvPr id="213" name="Google Shape;213;p10"/>
          <p:cNvSpPr txBox="1"/>
          <p:nvPr/>
        </p:nvSpPr>
        <p:spPr>
          <a:xfrm>
            <a:off x="3454400" y="6211669"/>
            <a:ext cx="6096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DEPARTMENT OF COMPUTER ENGINEERING </a:t>
            </a:r>
            <a:endParaRPr sz="14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mbria"/>
                <a:ea typeface="Cambria"/>
                <a:cs typeface="Cambria"/>
                <a:sym typeface="Cambria"/>
              </a:rPr>
              <a:t>*Proprietary material of SILVER OAK UNIVERSITY</a:t>
            </a:r>
            <a:endParaRPr sz="1800" b="0" i="0" u="none" strike="noStrike" cap="none">
              <a:solidFill>
                <a:schemeClr val="dk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Words>
  <Application>Microsoft Office PowerPoint</Application>
  <PresentationFormat>Widescreen</PresentationFormat>
  <Paragraphs>109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Times New Roman</vt:lpstr>
      <vt:lpstr>Office Theme</vt:lpstr>
      <vt:lpstr>PowerPoint Presentation</vt:lpstr>
      <vt:lpstr>Index</vt:lpstr>
      <vt:lpstr>Introduction</vt:lpstr>
      <vt:lpstr>Background and Motivation</vt:lpstr>
      <vt:lpstr>Relevance and Importance</vt:lpstr>
      <vt:lpstr>Literature Review</vt:lpstr>
      <vt:lpstr>Research Gap</vt:lpstr>
      <vt:lpstr>Objectives</vt:lpstr>
      <vt:lpstr>Required Dataset,Tools and Technology</vt:lpstr>
      <vt:lpstr>Methodology</vt:lpstr>
      <vt:lpstr>Result</vt:lpstr>
      <vt:lpstr>Conclusion</vt:lpstr>
      <vt:lpstr>Future Work</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1</cp:revision>
  <dcterms:modified xsi:type="dcterms:W3CDTF">2026-09-23T16:49:22Z</dcterms:modified>
</cp:coreProperties>
</file>